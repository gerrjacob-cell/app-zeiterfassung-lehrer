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Wochen</c:v>
                </c:pt>
              </c:strCache>
            </c:strRef>
          </c:tx>
          <c:spPr>
            <a:solidFill>
              <a:srgbClr val="065A82"/>
            </a:solidFill>
            <a:effectLst/>
          </c:spPr>
          <c:invertIfNegative val="0"/>
          <c:dLbls>
            <c:numFmt formatCode="#,##0" sourceLinked="0"/>
            <c:txPr>
              <a:bodyPr/>
              <a:lstStyle/>
              <a:p>
                <a:pPr>
                  <a:defRPr b="1" i="0" strike="noStrike" sz="1400" u="none">
                    <a:solidFill>
                      <a:srgbClr val="1B2430"/>
                    </a:solidFill>
                    <a:latin typeface="Calibri"/>
                  </a:defRPr>
                </a:pPr>
              </a:p>
            </c:txPr>
            <c:showLegendKey val="0"/>
            <c:showVal val="1"/>
            <c:showCatName val="0"/>
            <c:showSerName val="0"/>
            <c:showPercent val="0"/>
            <c:showBubbleSize val="0"/>
            <c:showLeaderLines val="0"/>
          </c:dLbls>
          <c:dPt>
            <c:idx val="0"/>
            <c:invertIfNegative val="0"/>
            <c:bubble3D val="0"/>
            <c:spPr>
              <a:solidFill>
                <a:srgbClr val="065A82"/>
              </a:solidFill>
              <a:effectLst/>
            </c:spPr>
          </c:dPt>
          <c:dPt>
            <c:idx val="1"/>
            <c:invertIfNegative val="0"/>
            <c:bubble3D val="0"/>
            <c:spPr>
              <a:solidFill>
                <a:srgbClr val="1C7293"/>
              </a:solidFill>
              <a:effectLst/>
            </c:spPr>
          </c:dPt>
          <c:dPt>
            <c:idx val="2"/>
            <c:invertIfNegative val="0"/>
            <c:bubble3D val="0"/>
            <c:spPr>
              <a:solidFill>
                <a:srgbClr val="C05621"/>
              </a:solidFill>
              <a:effectLst/>
            </c:spPr>
          </c:dPt>
          <c:cat>
            <c:multiLvlStrRef>
              <c:f>Sheet1!$A$2:$A$4</c:f>
              <c:multiLvlStrCache>
                <c:ptCount val="3"/>
                <c:lvl>
                  <c:pt idx="0">
                    <c:v>Schulferien im Schuljahr</c:v>
                  </c:pt>
                  <c:pt idx="1">
                    <c:v>Erholungsurlaub</c:v>
                  </c:pt>
                  <c:pt idx="2">
                    <c:v>Differenz: Arbeitszeit
in der unterrichtsfreien Zeit</c:v>
                  </c:pt>
                </c:lvl>
              </c:multiLvlStrCache>
            </c:multiLvlStrRef>
          </c:cat>
          <c:val>
            <c:numRef>
              <c:f>Sheet1!$B$2:$B$4</c:f>
              <c:numCache>
                <c:formatCode>General</c:formatCode>
                <c:ptCount val="3"/>
                <c:pt idx="0">
                  <c:v>12</c:v>
                </c:pt>
                <c:pt idx="1">
                  <c:v>6</c:v>
                </c:pt>
                <c:pt idx="2">
                  <c:v>6</c:v>
                </c:pt>
              </c:numCache>
            </c:numRef>
          </c:val>
        </c:ser>
        <c:dLbls>
          <c:numFmt formatCode="#,##0" sourceLinked="0"/>
          <c:txPr>
            <a:bodyPr/>
            <a:lstStyle/>
            <a:p>
              <a:pPr>
                <a:defRPr b="1" i="0" strike="noStrike" sz="1400" u="none">
                  <a:solidFill>
                    <a:srgbClr val="1B2430"/>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430"/>
                </a:solidFill>
                <a:latin typeface="Calibri"/>
              </a:defRPr>
            </a:pPr>
            <a:endParaRPr lang="en-US"/>
          </a:p>
        </c:txPr>
        <c:crossAx val="2094734552"/>
        <c:crosses val="autoZero"/>
        <c:auto val="1"/>
        <c:lblAlgn val="ctr"/>
        <c:noMultiLvlLbl val="1"/>
      </c:catAx>
      <c:valAx>
        <c:axId val="2094734552"/>
        <c:scaling>
          <c:orientation val="minMax"/>
          <c:max val="14"/>
        </c:scaling>
        <c:delete val="0"/>
        <c:axPos val="b"/>
        <c:majorGridlines>
          <c:spPr>
            <a:ln w="12700" cap="flat">
              <a:solidFill>
                <a:srgbClr val="E2E9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A6B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Stunden</c:v>
                </c:pt>
              </c:strCache>
            </c:strRef>
          </c:tx>
          <c:spPr>
            <a:solidFill>
              <a:srgbClr val="065A82"/>
            </a:solidFill>
            <a:effectLst/>
          </c:spPr>
          <c:invertIfNegative val="0"/>
          <c:dLbls>
            <c:numFmt formatCode="#,##0" sourceLinked="0"/>
            <c:txPr>
              <a:bodyPr/>
              <a:lstStyle/>
              <a:p>
                <a:pPr>
                  <a:defRPr b="1" i="0" strike="noStrike" sz="1100" u="none">
                    <a:solidFill>
                      <a:srgbClr val="1B2430"/>
                    </a:solidFill>
                    <a:latin typeface="Calibri"/>
                  </a:defRPr>
                </a:pPr>
              </a:p>
            </c:txPr>
            <c:showLegendKey val="0"/>
            <c:showVal val="1"/>
            <c:showCatName val="0"/>
            <c:showSerName val="0"/>
            <c:showPercent val="0"/>
            <c:showBubbleSize val="0"/>
            <c:showLeaderLines val="0"/>
          </c:dLbls>
          <c:cat>
            <c:multiLvlStrRef>
              <c:f>Sheet1!$A$2:$A$8</c:f>
              <c:multiLvlStrCache>
                <c:ptCount val="7"/>
                <c:lvl>
                  <c:pt idx="0">
                    <c:v>Unterricht</c:v>
                  </c:pt>
                  <c:pt idx="1">
                    <c:v>Vor- und Nachbereitung</c:v>
                  </c:pt>
                  <c:pt idx="2">
                    <c:v>Korrekturen</c:v>
                  </c:pt>
                  <c:pt idx="3">
                    <c:v>Konferenzen</c:v>
                  </c:pt>
                  <c:pt idx="4">
                    <c:v>Kommunikation</c:v>
                  </c:pt>
                  <c:pt idx="5">
                    <c:v>Aufsicht</c:v>
                  </c:pt>
                  <c:pt idx="6">
                    <c:v>Übrige</c:v>
                  </c:pt>
                </c:lvl>
              </c:multiLvlStrCache>
            </c:multiLvlStrRef>
          </c:cat>
          <c:val>
            <c:numRef>
              <c:f>Sheet1!$B$2:$B$8</c:f>
              <c:numCache>
                <c:formatCode>General</c:formatCode>
                <c:ptCount val="7"/>
                <c:pt idx="0">
                  <c:v>188</c:v>
                </c:pt>
                <c:pt idx="1">
                  <c:v>84</c:v>
                </c:pt>
                <c:pt idx="2">
                  <c:v>65</c:v>
                </c:pt>
                <c:pt idx="3">
                  <c:v>38</c:v>
                </c:pt>
                <c:pt idx="4">
                  <c:v>29</c:v>
                </c:pt>
                <c:pt idx="5">
                  <c:v>19</c:v>
                </c:pt>
                <c:pt idx="6">
                  <c:v>37</c:v>
                </c:pt>
              </c:numCache>
            </c:numRef>
          </c:val>
        </c:ser>
        <c:dLbls>
          <c:numFmt formatCode="#,##0" sourceLinked="0"/>
          <c:txPr>
            <a:bodyPr/>
            <a:lstStyle/>
            <a:p>
              <a:pPr>
                <a:defRPr b="1" i="0" strike="noStrike" sz="1100" u="none">
                  <a:solidFill>
                    <a:srgbClr val="1B2430"/>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430"/>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2E9EF"/>
              </a:solidFill>
              <a:prstDash val="solid"/>
              <a:round/>
            </a:ln>
          </c:spPr>
        </c:majorGridlines>
        <c:title>
          <c:tx>
            <c:rich>
              <a:bodyPr/>
              <a:lstStyle/>
              <a:p>
                <a:pPr>
                  <a:defRPr sz="1000" b="0" i="0" u="none" strike="noStrike">
                    <a:solidFill>
                      <a:srgbClr val="5A6B7A"/>
                    </a:solidFill>
                    <a:latin typeface="Calibri"/>
                  </a:defRPr>
                </a:pPr>
                <a:r>
                  <a:rPr sz="1000" b="0" i="0" u="none" strike="noStrike">
                    <a:solidFill>
                      <a:srgbClr val="5A6B7A"/>
                    </a:solidFill>
                    <a:latin typeface="Calibri"/>
                  </a:rPr>
                  <a:t>Stunden</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B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Begrüßung. In einem Satz worum es geht: Wir haben ein Werkzeug, mit dem jede und jeder für sich die eigene Arbeitszeit dokumentieren kann. Freiwillig, ohne Server, ohne dass die Schulleitung etwas sieht.
Zeitrahmen ansagen: etwa 15 Minuten Vortrag, danach Fragen.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aus dem eigenen Alltag erzählen – ein konkretes Beispiel wirkt hier stärker als jede Zahl.
Wichtig ist der Schlusssatz: Es geht nicht darum, mehr zu arbeiten oder sich zu rechtfertigen. Es geht darum, dass die geleistete Arbeit überhaupt erst in Zahlen auftaucht.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 Bezug zur GEW-App erwähnen, aber nicht überhöhen: Wir übernehmen die Idee, nicht die Software. Der Unterschied ist wichtig – unsere Fassung rechnet mit 41 Wochenstunden nach der Arbeitszeitverordnung Schleswig-Holstein und kennt unsere Ferientermine.
Punkt 4 betonen: Niemand wird zu irgendetwas verpflichtet.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lohnt sich eine kurze Live-Demo, falls Beamer und Netz mitspielen: App öffnen, Tagesansicht zeigen, einmal auf „+30 min" tippen. Das nimmt mehr Berührungsangst als jede Folie.
Falls keine Demo möglich ist: auf die nächsten Folien verweisen.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die Folie, an der die meisten Rückfragen kommen. Ruhig Zeit lassen.
Der häufigste Einwand: „Dann habe ich ja in den Ferien Minusstunden." Antwort: Ja, wenn man in den Ferien tatsächlich nicht arbeitet – dann stimmt die Zahl auch. Interessant ist der Jahresverlauf, nicht die einzelne Woche. Und die meisten stellen genau hier fest, wie viel sie in den Ferien doch erledigen.
Zweiter Einwand: „Ist das nicht rechtlich strittig?" Antwort: Die Rechnung folgt der Arbeitszeitverordnung. Was daraus an Ansprüchen folgt, ist eine andere Frage – dafür sind Personalrat und Gewerkschaft zuständig, nicht diese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Folie ist die Zuspitzung der vorigen. Wenn die Zeit knapp ist, kann man eine von beiden überspringen – aber nicht beide.
Anekdote anbieten: Wer erinnert sich, wann er zuletzt sechs zusammenhängende Wochen wirklich frei hatte?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die Folie gegen die häufigste Sorge: „Dafür habe ich keine Zeit."
Konkret werden: Der einmalige Einstieg dauert etwa eine Viertelstunde, danach sind es zwei bis drei Minuten am Tag oder fünf Minuten am Freitag.
Den Merksatz unten wirklich vorlesen – er nimmt den Perfektionsdruck raus, und der ist der eigentliche Grund, warum Zeiterfassung scheitert.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Nicht alle neun vorlesen – die Folie spricht für sich. Zwei, drei herausgreifen, bei denen im Kollegium erfahrungsgemäß viel Zeit hängenbleibt.
Auf die Frage „Wo trage ich X ein?": Im Zweifel grob richtig einordnen. Die Gesamtsumme zählt mehr als die perfekte Zuordnung. Der Leitfaden hat zu jeder Kategorie Beispiele.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Zahlen sind ein plausibles Beispiel, keine Messung – das ehrlich sagen.
Was hier auffällt und im Publikum meist ein Nicken auslöst: Der Unterricht selbst ist weniger als die Hälfte. Vorbereitung und Korrektur zusammen kommen nah an die reine Unterrichtszeit heran.
Den Druckbericht hochhalten, falls ausgedruckt vorhanden – das macht es greifbar.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Folie ist für die Teilzeitkräfte im Raum die wichtigste – und die Gruppe ist an einer Gemeinschaftsschule meist größer, als man denkt.
Der dunkle Kasten ist der eigentliche Punkt: Teilzeitkräfte übernehmen erfahrungsgemäß Konferenzen und Aufsichten in vollem Umfang. Genau das wird hier messbar.
Kurz erwähnen: Bei Teilzeit unter drei Vierteln werden Alters- und Schwerbehindertenermäßigung nur hälftig gewährt. Die App rechnet das nicht automatisch, sie weist darauf hin – eingetragen wird, was im Bescheid steht.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die Funktion, die es in keiner anderen Arbeitszeit-App gibt – ruhig als solche benennen.
Der Rechenweg in einem Satz: Eine Vollzeitkraft leistet 41 Wochenstunden für 27 Pflichtstunden. Also steckt in jeder Deputatsstunde rund eineinhalb Zeitstunden. Wer eine Stunde Ermäßigung bekommt, hat dafür 1:31 h pro Woche – nicht 45 Minuten.
Das Beispiel ist erfunden, aber realistisch. Wer eine Funktionsaufgabe hat, wird an dieser Stelle wahrscheinlich nicken.
Der untere Kasten klingt technisch, ist aber der Grund, warum die Zahlen stimmen: Hätten wir Ermäßigungen in den Beschäftigungsumfang eingerechnet, käme ein zu niedriges Soll heraus und die App würde die Mehrarbeit kleinrechnen.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Folie entscheidet mit darüber, ob Leute mitmachen. Deutlich und ohne Einschränkung vortragen – die Sorge, dass hier eine Leistungskontrolle entsteht, ist real und berechtigt.
Wer technisch nachfragt: Der Quelltext ist offen und einsehbar, jeder kann prüfen, dass nichts übertragen wird.
Den Backup-Hinweis nicht unterschlagen – das ist die ehrliche Kehrseite. Auf dem iPhone zusätzlich: App zum Startbildschirm hinzufügen, sonst löscht Safari die Daten nach sieben Tagen ohne Nutzung.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kommt erfahrungsgemäß die Frage: „Kann man mich zurückverfolgen?"
Antwort: Das Pseudonym wird bei jedem Export neu gewürfelt, zwei Exporte derselben Person lassen sich nicht verknüpfen. Was bleibt, ist die theoretische Möglichkeit, jemanden über einen ungewöhnlichen Beschäftigungsumfang zu erkennen – deshalb die Fünf-Personen-Schwelle, und deshalb ist die Abgabe strikt freiwillig.
Personalrat ansprechen: Am besten ist es, wenn die Sammlung von dort ausgeht oder zumindest dort abgestimmt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den Bogen zurück zum Anfang schlagen: Es geht nicht um Kontrolle, sondern um Sichtbarkeit.
Punkt II ist für die meisten der konkreteste – Beispiele aus dem eigenen Kollegium nennen, falls vorhanden.
Punkt I nicht unterschätzen: Viele erleben die Erfassung als entlastend, weil sie zeigt, dass das Gefühl der Überlastung berechtigt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Konkret werden: Wo finden die Kolleginnen und Kollegen den Link? QR-Code an die Wand projizieren oder als Handzettel verteilen, das senkt die Hürde erheblich.
Einen Termin nennen, wann man wieder zusammenkommt – ohne festen Punkt versandet es.
Anbieten, in der Freistunde bei der Einrichtung zu helfen. Die meisten Abbrüche passieren in den ersten fünf Minuten.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Bewusst mit den Grenzen schließen, nicht mit einem Werbeversprechen. Wer die Schwächen selbst benennt, wird bei den Stärken eher geglaubt.
Letzter Satz vor der Fragerunde: Niemand muss mitmachen. Aber wer möchte, hat ab heute ein Werkzeug dafür.
Für die Fragerunde bereithalten: die Ferien-Frage (Folie 5), die Datenschutz-Frage (Folie 12) und die Aufwandsfrage (Folie 7). Das sind die drei, die immer kommen.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052560" y="-1371600"/>
            <a:ext cx="5120640" cy="5120640"/>
          </a:xfrm>
          <a:prstGeom prst="ellipse">
            <a:avLst/>
          </a:prstGeom>
          <a:solidFill>
            <a:srgbClr val="065A82">
              <a:alpha val="45000"/>
            </a:srgbClr>
          </a:solidFill>
          <a:ln w="12700">
            <a:solidFill>
              <a:srgbClr val="065A82">
                <a:alpha val="0"/>
              </a:srgbClr>
            </a:solidFill>
            <a:prstDash val="solid"/>
          </a:ln>
        </p:spPr>
      </p:sp>
      <p:sp>
        <p:nvSpPr>
          <p:cNvPr id="3" name="Shape 1"/>
          <p:cNvSpPr/>
          <p:nvPr/>
        </p:nvSpPr>
        <p:spPr>
          <a:xfrm>
            <a:off x="10424160" y="4023360"/>
            <a:ext cx="3108960" cy="3108960"/>
          </a:xfrm>
          <a:prstGeom prst="ellipse">
            <a:avLst/>
          </a:prstGeom>
          <a:solidFill>
            <a:srgbClr val="1C7293">
              <a:alpha val="35000"/>
            </a:srgbClr>
          </a:solidFill>
          <a:ln w="12700">
            <a:solidFill>
              <a:srgbClr val="1C7293">
                <a:alpha val="0"/>
              </a:srgbClr>
            </a:solidFill>
            <a:prstDash val="solid"/>
          </a:ln>
        </p:spPr>
      </p:sp>
      <p:sp>
        <p:nvSpPr>
          <p:cNvPr id="4" name="Text 2"/>
          <p:cNvSpPr/>
          <p:nvPr/>
        </p:nvSpPr>
        <p:spPr>
          <a:xfrm>
            <a:off x="566928" y="1965960"/>
            <a:ext cx="7863840" cy="109728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Lehrerzeit</a:t>
            </a:r>
            <a:endParaRPr lang="en-US" sz="6000" dirty="0"/>
          </a:p>
        </p:txBody>
      </p:sp>
      <p:sp>
        <p:nvSpPr>
          <p:cNvPr id="5" name="Text 3"/>
          <p:cNvSpPr/>
          <p:nvPr/>
        </p:nvSpPr>
        <p:spPr>
          <a:xfrm>
            <a:off x="566928" y="3063240"/>
            <a:ext cx="7863840" cy="914400"/>
          </a:xfrm>
          <a:prstGeom prst="rect">
            <a:avLst/>
          </a:prstGeom>
          <a:noFill/>
          <a:ln/>
        </p:spPr>
        <p:txBody>
          <a:bodyPr wrap="square" lIns="0" tIns="0" rIns="0" bIns="0" rtlCol="0" anchor="ctr"/>
          <a:lstStyle/>
          <a:p>
            <a:pPr indent="0" marL="0">
              <a:lnSpc>
                <a:spcPct val="120000"/>
              </a:lnSpc>
              <a:buNone/>
            </a:pPr>
            <a:r>
              <a:rPr lang="en-US" sz="1900" dirty="0">
                <a:solidFill>
                  <a:srgbClr val="B8C4D0"/>
                </a:solidFill>
                <a:latin typeface="Calibri" pitchFamily="34" charset="0"/>
                <a:ea typeface="Calibri" pitchFamily="34" charset="-122"/>
                <a:cs typeface="Calibri" pitchFamily="34" charset="-120"/>
              </a:rPr>
              <a:t>Die eigene Arbeitszeit dokumentieren – einfach, freiwillig, auf dem eigenen Gerät</a:t>
            </a:r>
            <a:endParaRPr lang="en-US" sz="1900" dirty="0"/>
          </a:p>
        </p:txBody>
      </p:sp>
      <p:sp>
        <p:nvSpPr>
          <p:cNvPr id="6" name="Text 4"/>
          <p:cNvSpPr/>
          <p:nvPr/>
        </p:nvSpPr>
        <p:spPr>
          <a:xfrm>
            <a:off x="566928" y="5120640"/>
            <a:ext cx="78638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Vorstellung im Kollegium</a:t>
            </a:r>
            <a:endParaRPr lang="en-US" sz="1400" dirty="0"/>
          </a:p>
        </p:txBody>
      </p:sp>
      <p:sp>
        <p:nvSpPr>
          <p:cNvPr id="7" name="Text 5"/>
          <p:cNvSpPr/>
          <p:nvPr/>
        </p:nvSpPr>
        <p:spPr>
          <a:xfrm>
            <a:off x="566928" y="5486400"/>
            <a:ext cx="7863840" cy="365760"/>
          </a:xfrm>
          <a:prstGeom prst="rect">
            <a:avLst/>
          </a:prstGeom>
          <a:noFill/>
          <a:ln/>
        </p:spPr>
        <p:txBody>
          <a:bodyPr wrap="square" lIns="0" tIns="0" rIns="0" bIns="0" rtlCol="0" anchor="ctr"/>
          <a:lstStyle/>
          <a:p>
            <a:pPr indent="0" marL="0">
              <a:buNone/>
            </a:pPr>
            <a:r>
              <a:rPr lang="en-US" sz="1300" dirty="0">
                <a:solidFill>
                  <a:srgbClr val="B8C4D0"/>
                </a:solidFill>
                <a:latin typeface="Calibri" pitchFamily="34" charset="0"/>
                <a:ea typeface="Calibri" pitchFamily="34" charset="-122"/>
                <a:cs typeface="Calibri" pitchFamily="34" charset="-120"/>
              </a:rPr>
              <a:t>Gemeinschaftsschule · Schleswig-Holstein · Schuljahr 2026/2027</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11480"/>
            <a:ext cx="11055096" cy="658368"/>
          </a:xfrm>
          <a:prstGeom prst="rect">
            <a:avLst/>
          </a:prstGeom>
          <a:noFill/>
          <a:ln/>
        </p:spPr>
        <p:txBody>
          <a:bodyPr wrap="square" lIns="0" tIns="0" rIns="0" bIns="0"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Das Problem: Die Arbeit ist da, die Zahlen fehlen</a:t>
            </a:r>
            <a:endParaRPr lang="en-US" sz="3400" dirty="0"/>
          </a:p>
        </p:txBody>
      </p:sp>
      <p:sp>
        <p:nvSpPr>
          <p:cNvPr id="3" name="Text 1"/>
          <p:cNvSpPr/>
          <p:nvPr/>
        </p:nvSpPr>
        <p:spPr>
          <a:xfrm>
            <a:off x="566928" y="1234440"/>
            <a:ext cx="10607040" cy="640080"/>
          </a:xfrm>
          <a:prstGeom prst="rect">
            <a:avLst/>
          </a:prstGeom>
          <a:noFill/>
          <a:ln/>
        </p:spPr>
        <p:txBody>
          <a:bodyPr wrap="square" lIns="0" tIns="0" rIns="0" bIns="0" rtlCol="0" anchor="ctr"/>
          <a:lstStyle/>
          <a:p>
            <a:pPr indent="0" marL="0">
              <a:lnSpc>
                <a:spcPct val="125000"/>
              </a:lnSpc>
              <a:buNone/>
            </a:pPr>
            <a:r>
              <a:rPr lang="en-US" sz="1600" dirty="0">
                <a:solidFill>
                  <a:srgbClr val="1B2430"/>
                </a:solidFill>
                <a:latin typeface="Calibri" pitchFamily="34" charset="0"/>
                <a:ea typeface="Calibri" pitchFamily="34" charset="-122"/>
                <a:cs typeface="Calibri" pitchFamily="34" charset="-120"/>
              </a:rPr>
              <a:t>Über die Arbeitszeit von Lehrkräften wird seit Jahren diskutiert – meist ohne Zahlen. Wer sagt, es sei zu viel, bekommt zu hören, das sei ein Gefühl.</a:t>
            </a:r>
            <a:endParaRPr lang="en-US" sz="1600" dirty="0"/>
          </a:p>
        </p:txBody>
      </p:sp>
      <p:sp>
        <p:nvSpPr>
          <p:cNvPr id="4" name="Shape 2"/>
          <p:cNvSpPr/>
          <p:nvPr/>
        </p:nvSpPr>
        <p:spPr>
          <a:xfrm>
            <a:off x="566928" y="2148840"/>
            <a:ext cx="3401568" cy="2880360"/>
          </a:xfrm>
          <a:prstGeom prst="roundRect">
            <a:avLst>
              <a:gd name="adj" fmla="val 3810"/>
            </a:avLst>
          </a:prstGeom>
          <a:solidFill>
            <a:srgbClr val="F3F6F8"/>
          </a:solidFill>
          <a:ln w="12700">
            <a:solidFill>
              <a:srgbClr val="E2E9EF"/>
            </a:solidFill>
            <a:prstDash val="solid"/>
          </a:ln>
          <a:effectLst>
            <a:outerShdw sx="100000" sy="100000" kx="0" ky="0" algn="bl" rotWithShape="0" blurRad="152400" dist="25400" dir="5400000">
              <a:srgbClr val="0B1B2B">
                <a:alpha val="13000"/>
              </a:srgbClr>
            </a:outerShdw>
          </a:effectLst>
        </p:spPr>
      </p:sp>
      <p:sp>
        <p:nvSpPr>
          <p:cNvPr id="5" name="Shape 3"/>
          <p:cNvSpPr/>
          <p:nvPr/>
        </p:nvSpPr>
        <p:spPr>
          <a:xfrm>
            <a:off x="822960" y="2386584"/>
            <a:ext cx="475488" cy="475488"/>
          </a:xfrm>
          <a:prstGeom prst="ellipse">
            <a:avLst/>
          </a:prstGeom>
          <a:solidFill>
            <a:srgbClr val="065A82"/>
          </a:solidFill>
          <a:ln w="12700">
            <a:solidFill>
              <a:srgbClr val="065A82"/>
            </a:solidFill>
            <a:prstDash val="solid"/>
          </a:ln>
        </p:spPr>
      </p:sp>
      <p:sp>
        <p:nvSpPr>
          <p:cNvPr id="6" name="Text 4"/>
          <p:cNvSpPr/>
          <p:nvPr/>
        </p:nvSpPr>
        <p:spPr>
          <a:xfrm>
            <a:off x="822960" y="238658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822960" y="2990088"/>
            <a:ext cx="2889504" cy="365760"/>
          </a:xfrm>
          <a:prstGeom prst="rect">
            <a:avLst/>
          </a:prstGeom>
          <a:noFill/>
          <a:ln/>
        </p:spPr>
        <p:txBody>
          <a:bodyPr wrap="square" lIns="0" tIns="0" rIns="0" bIns="0" rtlCol="0" anchor="t"/>
          <a:lstStyle/>
          <a:p>
            <a:pPr indent="0" marL="0">
              <a:buNone/>
            </a:pPr>
            <a:r>
              <a:rPr lang="en-US" sz="1600" b="1" dirty="0">
                <a:solidFill>
                  <a:srgbClr val="21295C"/>
                </a:solidFill>
                <a:latin typeface="Calibri" pitchFamily="34" charset="0"/>
                <a:ea typeface="Calibri" pitchFamily="34" charset="-122"/>
                <a:cs typeface="Calibri" pitchFamily="34" charset="-120"/>
              </a:rPr>
              <a:t>Unsichtbar</a:t>
            </a:r>
            <a:endParaRPr lang="en-US" sz="1600" dirty="0"/>
          </a:p>
        </p:txBody>
      </p:sp>
      <p:sp>
        <p:nvSpPr>
          <p:cNvPr id="8" name="Text 6"/>
          <p:cNvSpPr/>
          <p:nvPr/>
        </p:nvSpPr>
        <p:spPr>
          <a:xfrm>
            <a:off x="822960" y="3374136"/>
            <a:ext cx="2889504" cy="1545336"/>
          </a:xfrm>
          <a:prstGeom prst="rect">
            <a:avLst/>
          </a:prstGeom>
          <a:noFill/>
          <a:ln/>
        </p:spPr>
        <p:txBody>
          <a:bodyPr wrap="square" lIns="0" tIns="0" rIns="0" bIns="0" rtlCol="0" anchor="t"/>
          <a:lstStyle/>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Vorbereitung am Sonntagabend, Korrekturstapel in den Herbstferien, das Elterngespräch nach der sechsten Stunde – nichts davon taucht in einer Statistik auf.</a:t>
            </a:r>
            <a:endParaRPr lang="en-US" sz="1300" dirty="0"/>
          </a:p>
        </p:txBody>
      </p:sp>
      <p:sp>
        <p:nvSpPr>
          <p:cNvPr id="9" name="Shape 7"/>
          <p:cNvSpPr/>
          <p:nvPr/>
        </p:nvSpPr>
        <p:spPr>
          <a:xfrm>
            <a:off x="4206240" y="2148840"/>
            <a:ext cx="3401568" cy="2880360"/>
          </a:xfrm>
          <a:prstGeom prst="roundRect">
            <a:avLst>
              <a:gd name="adj" fmla="val 3810"/>
            </a:avLst>
          </a:prstGeom>
          <a:solidFill>
            <a:srgbClr val="F3F6F8"/>
          </a:solidFill>
          <a:ln w="12700">
            <a:solidFill>
              <a:srgbClr val="E2E9EF"/>
            </a:solidFill>
            <a:prstDash val="solid"/>
          </a:ln>
          <a:effectLst>
            <a:outerShdw sx="100000" sy="100000" kx="0" ky="0" algn="bl" rotWithShape="0" blurRad="152400" dist="25400" dir="5400000">
              <a:srgbClr val="0B1B2B">
                <a:alpha val="13000"/>
              </a:srgbClr>
            </a:outerShdw>
          </a:effectLst>
        </p:spPr>
      </p:sp>
      <p:sp>
        <p:nvSpPr>
          <p:cNvPr id="10" name="Shape 8"/>
          <p:cNvSpPr/>
          <p:nvPr/>
        </p:nvSpPr>
        <p:spPr>
          <a:xfrm>
            <a:off x="4462272" y="2386584"/>
            <a:ext cx="475488" cy="475488"/>
          </a:xfrm>
          <a:prstGeom prst="ellipse">
            <a:avLst/>
          </a:prstGeom>
          <a:solidFill>
            <a:srgbClr val="065A82"/>
          </a:solidFill>
          <a:ln w="12700">
            <a:solidFill>
              <a:srgbClr val="065A82"/>
            </a:solidFill>
            <a:prstDash val="solid"/>
          </a:ln>
        </p:spPr>
      </p:sp>
      <p:sp>
        <p:nvSpPr>
          <p:cNvPr id="11" name="Text 9"/>
          <p:cNvSpPr/>
          <p:nvPr/>
        </p:nvSpPr>
        <p:spPr>
          <a:xfrm>
            <a:off x="4462272" y="238658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4462272" y="2990088"/>
            <a:ext cx="2889504" cy="365760"/>
          </a:xfrm>
          <a:prstGeom prst="rect">
            <a:avLst/>
          </a:prstGeom>
          <a:noFill/>
          <a:ln/>
        </p:spPr>
        <p:txBody>
          <a:bodyPr wrap="square" lIns="0" tIns="0" rIns="0" bIns="0" rtlCol="0" anchor="t"/>
          <a:lstStyle/>
          <a:p>
            <a:pPr indent="0" marL="0">
              <a:buNone/>
            </a:pPr>
            <a:r>
              <a:rPr lang="en-US" sz="1600" b="1" dirty="0">
                <a:solidFill>
                  <a:srgbClr val="21295C"/>
                </a:solidFill>
                <a:latin typeface="Calibri" pitchFamily="34" charset="0"/>
                <a:ea typeface="Calibri" pitchFamily="34" charset="-122"/>
                <a:cs typeface="Calibri" pitchFamily="34" charset="-120"/>
              </a:rPr>
              <a:t>Unbelegt</a:t>
            </a:r>
            <a:endParaRPr lang="en-US" sz="1600" dirty="0"/>
          </a:p>
        </p:txBody>
      </p:sp>
      <p:sp>
        <p:nvSpPr>
          <p:cNvPr id="13" name="Text 11"/>
          <p:cNvSpPr/>
          <p:nvPr/>
        </p:nvSpPr>
        <p:spPr>
          <a:xfrm>
            <a:off x="4462272" y="3374136"/>
            <a:ext cx="2889504" cy="1545336"/>
          </a:xfrm>
          <a:prstGeom prst="rect">
            <a:avLst/>
          </a:prstGeom>
          <a:noFill/>
          <a:ln/>
        </p:spPr>
        <p:txBody>
          <a:bodyPr wrap="square" lIns="0" tIns="0" rIns="0" bIns="0" rtlCol="0" anchor="t"/>
          <a:lstStyle/>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Ohne Aufzeichnung bleibt jede Überlastungsanzeige eine Behauptung. Auch das Gespräch über Anrechnungsstunden endet dann bei „gefühlt".</a:t>
            </a:r>
            <a:endParaRPr lang="en-US" sz="1300" dirty="0"/>
          </a:p>
        </p:txBody>
      </p:sp>
      <p:sp>
        <p:nvSpPr>
          <p:cNvPr id="14" name="Shape 12"/>
          <p:cNvSpPr/>
          <p:nvPr/>
        </p:nvSpPr>
        <p:spPr>
          <a:xfrm>
            <a:off x="7845552" y="2148840"/>
            <a:ext cx="3401568" cy="2880360"/>
          </a:xfrm>
          <a:prstGeom prst="roundRect">
            <a:avLst>
              <a:gd name="adj" fmla="val 3810"/>
            </a:avLst>
          </a:prstGeom>
          <a:solidFill>
            <a:srgbClr val="F3F6F8"/>
          </a:solidFill>
          <a:ln w="12700">
            <a:solidFill>
              <a:srgbClr val="E2E9EF"/>
            </a:solidFill>
            <a:prstDash val="solid"/>
          </a:ln>
          <a:effectLst>
            <a:outerShdw sx="100000" sy="100000" kx="0" ky="0" algn="bl" rotWithShape="0" blurRad="152400" dist="25400" dir="5400000">
              <a:srgbClr val="0B1B2B">
                <a:alpha val="13000"/>
              </a:srgbClr>
            </a:outerShdw>
          </a:effectLst>
        </p:spPr>
      </p:sp>
      <p:sp>
        <p:nvSpPr>
          <p:cNvPr id="15" name="Shape 13"/>
          <p:cNvSpPr/>
          <p:nvPr/>
        </p:nvSpPr>
        <p:spPr>
          <a:xfrm>
            <a:off x="8101584" y="2386584"/>
            <a:ext cx="475488" cy="475488"/>
          </a:xfrm>
          <a:prstGeom prst="ellipse">
            <a:avLst/>
          </a:prstGeom>
          <a:solidFill>
            <a:srgbClr val="065A82"/>
          </a:solidFill>
          <a:ln w="12700">
            <a:solidFill>
              <a:srgbClr val="065A82"/>
            </a:solidFill>
            <a:prstDash val="solid"/>
          </a:ln>
        </p:spPr>
      </p:sp>
      <p:sp>
        <p:nvSpPr>
          <p:cNvPr id="16" name="Text 14"/>
          <p:cNvSpPr/>
          <p:nvPr/>
        </p:nvSpPr>
        <p:spPr>
          <a:xfrm>
            <a:off x="8101584" y="238658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8101584" y="2990088"/>
            <a:ext cx="2889504" cy="365760"/>
          </a:xfrm>
          <a:prstGeom prst="rect">
            <a:avLst/>
          </a:prstGeom>
          <a:noFill/>
          <a:ln/>
        </p:spPr>
        <p:txBody>
          <a:bodyPr wrap="square" lIns="0" tIns="0" rIns="0" bIns="0" rtlCol="0" anchor="t"/>
          <a:lstStyle/>
          <a:p>
            <a:pPr indent="0" marL="0">
              <a:buNone/>
            </a:pPr>
            <a:r>
              <a:rPr lang="en-US" sz="1600" b="1" dirty="0">
                <a:solidFill>
                  <a:srgbClr val="21295C"/>
                </a:solidFill>
                <a:latin typeface="Calibri" pitchFamily="34" charset="0"/>
                <a:ea typeface="Calibri" pitchFamily="34" charset="-122"/>
                <a:cs typeface="Calibri" pitchFamily="34" charset="-120"/>
              </a:rPr>
              <a:t>Ungleich verteilt</a:t>
            </a:r>
            <a:endParaRPr lang="en-US" sz="1600" dirty="0"/>
          </a:p>
        </p:txBody>
      </p:sp>
      <p:sp>
        <p:nvSpPr>
          <p:cNvPr id="18" name="Text 16"/>
          <p:cNvSpPr/>
          <p:nvPr/>
        </p:nvSpPr>
        <p:spPr>
          <a:xfrm>
            <a:off x="8101584" y="3374136"/>
            <a:ext cx="2889504" cy="1545336"/>
          </a:xfrm>
          <a:prstGeom prst="rect">
            <a:avLst/>
          </a:prstGeom>
          <a:noFill/>
          <a:ln/>
        </p:spPr>
        <p:txBody>
          <a:bodyPr wrap="square" lIns="0" tIns="0" rIns="0" bIns="0" rtlCol="0" anchor="t"/>
          <a:lstStyle/>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Korrekturfächer, Klassenleitung, Funktionsaufgaben: Der Aufwand unterscheidet sich erheblich – sichtbar wird das nirgends.</a:t>
            </a:r>
            <a:endParaRPr lang="en-US" sz="1300" dirty="0"/>
          </a:p>
        </p:txBody>
      </p:sp>
      <p:sp>
        <p:nvSpPr>
          <p:cNvPr id="19" name="Text 17"/>
          <p:cNvSpPr/>
          <p:nvPr/>
        </p:nvSpPr>
        <p:spPr>
          <a:xfrm>
            <a:off x="566928" y="5349240"/>
            <a:ext cx="10607040" cy="457200"/>
          </a:xfrm>
          <a:prstGeom prst="rect">
            <a:avLst/>
          </a:prstGeom>
          <a:noFill/>
          <a:ln/>
        </p:spPr>
        <p:txBody>
          <a:bodyPr wrap="square" lIns="0" tIns="0" rIns="0" bIns="0" rtlCol="0" anchor="ctr"/>
          <a:lstStyle/>
          <a:p>
            <a:pPr indent="0" marL="0">
              <a:buNone/>
            </a:pPr>
            <a:r>
              <a:rPr lang="en-US" sz="1900" b="1" i="1" dirty="0">
                <a:solidFill>
                  <a:srgbClr val="065A82"/>
                </a:solidFill>
                <a:latin typeface="Cambria" pitchFamily="34" charset="0"/>
                <a:ea typeface="Cambria" pitchFamily="34" charset="-122"/>
                <a:cs typeface="Cambria" pitchFamily="34" charset="-120"/>
              </a:rPr>
              <a:t>Was nicht gemessen wird, existiert in der Debatte nicht.</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11480"/>
            <a:ext cx="11055096" cy="658368"/>
          </a:xfrm>
          <a:prstGeom prst="rect">
            <a:avLst/>
          </a:prstGeom>
          <a:noFill/>
          <a:ln/>
        </p:spPr>
        <p:txBody>
          <a:bodyPr wrap="square" lIns="0" tIns="0" rIns="0" bIns="0"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Warum jetzt</a:t>
            </a:r>
            <a:endParaRPr lang="en-US" sz="3400" dirty="0"/>
          </a:p>
        </p:txBody>
      </p:sp>
      <p:sp>
        <p:nvSpPr>
          <p:cNvPr id="3" name="Text 1"/>
          <p:cNvSpPr/>
          <p:nvPr/>
        </p:nvSpPr>
        <p:spPr>
          <a:xfrm>
            <a:off x="566928" y="1078992"/>
            <a:ext cx="11055096" cy="365760"/>
          </a:xfrm>
          <a:prstGeom prst="rect">
            <a:avLst/>
          </a:prstGeom>
          <a:noFill/>
          <a:ln/>
        </p:spPr>
        <p:txBody>
          <a:bodyPr wrap="square" lIns="0" tIns="0" rIns="0" bIns="0" rtlCol="0" anchor="ctr"/>
          <a:lstStyle/>
          <a:p>
            <a:pPr indent="0" marL="0">
              <a:buNone/>
            </a:pPr>
            <a:r>
              <a:rPr lang="en-US" sz="1500" dirty="0">
                <a:solidFill>
                  <a:srgbClr val="5A6B7A"/>
                </a:solidFill>
                <a:latin typeface="Calibri" pitchFamily="34" charset="0"/>
                <a:ea typeface="Calibri" pitchFamily="34" charset="-122"/>
                <a:cs typeface="Calibri" pitchFamily="34" charset="-120"/>
              </a:rPr>
              <a:t>Die Idee ist nicht neu – aber sie kommt gerade in Bewegung</a:t>
            </a:r>
            <a:endParaRPr lang="en-US" sz="1500" dirty="0"/>
          </a:p>
        </p:txBody>
      </p:sp>
      <p:sp>
        <p:nvSpPr>
          <p:cNvPr id="4" name="Shape 2"/>
          <p:cNvSpPr/>
          <p:nvPr/>
        </p:nvSpPr>
        <p:spPr>
          <a:xfrm>
            <a:off x="566928" y="1719072"/>
            <a:ext cx="5257800" cy="2084832"/>
          </a:xfrm>
          <a:prstGeom prst="roundRect">
            <a:avLst>
              <a:gd name="adj" fmla="val 5263"/>
            </a:avLst>
          </a:prstGeom>
          <a:solidFill>
            <a:srgbClr val="F3F6F8"/>
          </a:solidFill>
          <a:ln w="12700">
            <a:solidFill>
              <a:srgbClr val="E2E9EF"/>
            </a:solidFill>
            <a:prstDash val="solid"/>
          </a:ln>
          <a:effectLst>
            <a:outerShdw sx="100000" sy="100000" kx="0" ky="0" algn="bl" rotWithShape="0" blurRad="152400" dist="25400" dir="5400000">
              <a:srgbClr val="0B1B2B">
                <a:alpha val="13000"/>
              </a:srgbClr>
            </a:outerShdw>
          </a:effectLst>
        </p:spPr>
      </p:sp>
      <p:sp>
        <p:nvSpPr>
          <p:cNvPr id="5" name="Shape 3"/>
          <p:cNvSpPr/>
          <p:nvPr/>
        </p:nvSpPr>
        <p:spPr>
          <a:xfrm>
            <a:off x="822960" y="1956816"/>
            <a:ext cx="475488" cy="475488"/>
          </a:xfrm>
          <a:prstGeom prst="ellipse">
            <a:avLst/>
          </a:prstGeom>
          <a:solidFill>
            <a:srgbClr val="065A82"/>
          </a:solidFill>
          <a:ln w="12700">
            <a:solidFill>
              <a:srgbClr val="065A82"/>
            </a:solidFill>
            <a:prstDash val="solid"/>
          </a:ln>
        </p:spPr>
      </p:sp>
      <p:sp>
        <p:nvSpPr>
          <p:cNvPr id="6" name="Text 4"/>
          <p:cNvSpPr/>
          <p:nvPr/>
        </p:nvSpPr>
        <p:spPr>
          <a:xfrm>
            <a:off x="822960" y="1956816"/>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822960" y="2560320"/>
            <a:ext cx="4745736" cy="365760"/>
          </a:xfrm>
          <a:prstGeom prst="rect">
            <a:avLst/>
          </a:prstGeom>
          <a:noFill/>
          <a:ln/>
        </p:spPr>
        <p:txBody>
          <a:bodyPr wrap="square" lIns="0" tIns="0" rIns="0" bIns="0" rtlCol="0" anchor="t"/>
          <a:lstStyle/>
          <a:p>
            <a:pPr indent="0" marL="0">
              <a:buNone/>
            </a:pPr>
            <a:r>
              <a:rPr lang="en-US" sz="1600" b="1" dirty="0">
                <a:solidFill>
                  <a:srgbClr val="21295C"/>
                </a:solidFill>
                <a:latin typeface="Calibri" pitchFamily="34" charset="0"/>
                <a:ea typeface="Calibri" pitchFamily="34" charset="-122"/>
                <a:cs typeface="Calibri" pitchFamily="34" charset="-120"/>
              </a:rPr>
              <a:t>Die GEW macht es vor</a:t>
            </a:r>
            <a:endParaRPr lang="en-US" sz="1600" dirty="0"/>
          </a:p>
        </p:txBody>
      </p:sp>
      <p:sp>
        <p:nvSpPr>
          <p:cNvPr id="8" name="Text 6"/>
          <p:cNvSpPr/>
          <p:nvPr/>
        </p:nvSpPr>
        <p:spPr>
          <a:xfrm>
            <a:off x="822960" y="2944368"/>
            <a:ext cx="4745736" cy="749808"/>
          </a:xfrm>
          <a:prstGeom prst="rect">
            <a:avLst/>
          </a:prstGeom>
          <a:noFill/>
          <a:ln/>
        </p:spPr>
        <p:txBody>
          <a:bodyPr wrap="square" lIns="0" tIns="0" rIns="0" bIns="0" rtlCol="0" anchor="t"/>
          <a:lstStyle/>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Die GEW Hessen stellt ihren Mitgliedern seit dem Schuljahr 2026/2027 die „Lehrzeit-App" bereit. Berlin zieht nach und bereitet damit Musterverfahren vor.</a:t>
            </a:r>
            <a:endParaRPr lang="en-US" sz="1300" dirty="0"/>
          </a:p>
        </p:txBody>
      </p:sp>
      <p:sp>
        <p:nvSpPr>
          <p:cNvPr id="9" name="Shape 7"/>
          <p:cNvSpPr/>
          <p:nvPr/>
        </p:nvSpPr>
        <p:spPr>
          <a:xfrm>
            <a:off x="6135624" y="1719072"/>
            <a:ext cx="5257800" cy="2084832"/>
          </a:xfrm>
          <a:prstGeom prst="roundRect">
            <a:avLst>
              <a:gd name="adj" fmla="val 5263"/>
            </a:avLst>
          </a:prstGeom>
          <a:solidFill>
            <a:srgbClr val="F3F6F8"/>
          </a:solidFill>
          <a:ln w="12700">
            <a:solidFill>
              <a:srgbClr val="E2E9EF"/>
            </a:solidFill>
            <a:prstDash val="solid"/>
          </a:ln>
          <a:effectLst>
            <a:outerShdw sx="100000" sy="100000" kx="0" ky="0" algn="bl" rotWithShape="0" blurRad="152400" dist="25400" dir="5400000">
              <a:srgbClr val="0B1B2B">
                <a:alpha val="13000"/>
              </a:srgbClr>
            </a:outerShdw>
          </a:effectLst>
        </p:spPr>
      </p:sp>
      <p:sp>
        <p:nvSpPr>
          <p:cNvPr id="10" name="Shape 8"/>
          <p:cNvSpPr/>
          <p:nvPr/>
        </p:nvSpPr>
        <p:spPr>
          <a:xfrm>
            <a:off x="6391656" y="1956816"/>
            <a:ext cx="475488" cy="475488"/>
          </a:xfrm>
          <a:prstGeom prst="ellipse">
            <a:avLst/>
          </a:prstGeom>
          <a:solidFill>
            <a:srgbClr val="065A82"/>
          </a:solidFill>
          <a:ln w="12700">
            <a:solidFill>
              <a:srgbClr val="065A82"/>
            </a:solidFill>
            <a:prstDash val="solid"/>
          </a:ln>
        </p:spPr>
      </p:sp>
      <p:sp>
        <p:nvSpPr>
          <p:cNvPr id="11" name="Text 9"/>
          <p:cNvSpPr/>
          <p:nvPr/>
        </p:nvSpPr>
        <p:spPr>
          <a:xfrm>
            <a:off x="6391656" y="1956816"/>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6391656" y="2560320"/>
            <a:ext cx="4745736" cy="365760"/>
          </a:xfrm>
          <a:prstGeom prst="rect">
            <a:avLst/>
          </a:prstGeom>
          <a:noFill/>
          <a:ln/>
        </p:spPr>
        <p:txBody>
          <a:bodyPr wrap="square" lIns="0" tIns="0" rIns="0" bIns="0" rtlCol="0" anchor="t"/>
          <a:lstStyle/>
          <a:p>
            <a:pPr indent="0" marL="0">
              <a:buNone/>
            </a:pPr>
            <a:r>
              <a:rPr lang="en-US" sz="1600" b="1" dirty="0">
                <a:solidFill>
                  <a:srgbClr val="21295C"/>
                </a:solidFill>
                <a:latin typeface="Calibri" pitchFamily="34" charset="0"/>
                <a:ea typeface="Calibri" pitchFamily="34" charset="-122"/>
                <a:cs typeface="Calibri" pitchFamily="34" charset="-120"/>
              </a:rPr>
              <a:t>Nur für Mitglieder</a:t>
            </a:r>
            <a:endParaRPr lang="en-US" sz="1600" dirty="0"/>
          </a:p>
        </p:txBody>
      </p:sp>
      <p:sp>
        <p:nvSpPr>
          <p:cNvPr id="13" name="Text 11"/>
          <p:cNvSpPr/>
          <p:nvPr/>
        </p:nvSpPr>
        <p:spPr>
          <a:xfrm>
            <a:off x="6391656" y="2944368"/>
            <a:ext cx="4745736" cy="749808"/>
          </a:xfrm>
          <a:prstGeom prst="rect">
            <a:avLst/>
          </a:prstGeom>
          <a:noFill/>
          <a:ln/>
        </p:spPr>
        <p:txBody>
          <a:bodyPr wrap="square" lIns="0" tIns="0" rIns="0" bIns="0" rtlCol="0" anchor="t"/>
          <a:lstStyle/>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Diese Apps sind an eine Mitgliedschaft und an das jeweilige Landesrecht gebunden. Für unser Kollegium in Schleswig-Holstein passt beides nicht.</a:t>
            </a:r>
            <a:endParaRPr lang="en-US" sz="1300" dirty="0"/>
          </a:p>
        </p:txBody>
      </p:sp>
      <p:sp>
        <p:nvSpPr>
          <p:cNvPr id="14" name="Shape 12"/>
          <p:cNvSpPr/>
          <p:nvPr/>
        </p:nvSpPr>
        <p:spPr>
          <a:xfrm>
            <a:off x="566928" y="3977640"/>
            <a:ext cx="5257800" cy="2084832"/>
          </a:xfrm>
          <a:prstGeom prst="roundRect">
            <a:avLst>
              <a:gd name="adj" fmla="val 5263"/>
            </a:avLst>
          </a:prstGeom>
          <a:solidFill>
            <a:srgbClr val="F3F6F8"/>
          </a:solidFill>
          <a:ln w="12700">
            <a:solidFill>
              <a:srgbClr val="E2E9EF"/>
            </a:solidFill>
            <a:prstDash val="solid"/>
          </a:ln>
          <a:effectLst>
            <a:outerShdw sx="100000" sy="100000" kx="0" ky="0" algn="bl" rotWithShape="0" blurRad="152400" dist="25400" dir="5400000">
              <a:srgbClr val="0B1B2B">
                <a:alpha val="13000"/>
              </a:srgbClr>
            </a:outerShdw>
          </a:effectLst>
        </p:spPr>
      </p:sp>
      <p:sp>
        <p:nvSpPr>
          <p:cNvPr id="15" name="Shape 13"/>
          <p:cNvSpPr/>
          <p:nvPr/>
        </p:nvSpPr>
        <p:spPr>
          <a:xfrm>
            <a:off x="822960" y="4215384"/>
            <a:ext cx="475488" cy="475488"/>
          </a:xfrm>
          <a:prstGeom prst="ellipse">
            <a:avLst/>
          </a:prstGeom>
          <a:solidFill>
            <a:srgbClr val="065A82"/>
          </a:solidFill>
          <a:ln w="12700">
            <a:solidFill>
              <a:srgbClr val="065A82"/>
            </a:solidFill>
            <a:prstDash val="solid"/>
          </a:ln>
        </p:spPr>
      </p:sp>
      <p:sp>
        <p:nvSpPr>
          <p:cNvPr id="16" name="Text 14"/>
          <p:cNvSpPr/>
          <p:nvPr/>
        </p:nvSpPr>
        <p:spPr>
          <a:xfrm>
            <a:off x="822960" y="421538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822960" y="4818888"/>
            <a:ext cx="4745736" cy="365760"/>
          </a:xfrm>
          <a:prstGeom prst="rect">
            <a:avLst/>
          </a:prstGeom>
          <a:noFill/>
          <a:ln/>
        </p:spPr>
        <p:txBody>
          <a:bodyPr wrap="square" lIns="0" tIns="0" rIns="0" bIns="0" rtlCol="0" anchor="t"/>
          <a:lstStyle/>
          <a:p>
            <a:pPr indent="0" marL="0">
              <a:buNone/>
            </a:pPr>
            <a:r>
              <a:rPr lang="en-US" sz="1600" b="1" dirty="0">
                <a:solidFill>
                  <a:srgbClr val="21295C"/>
                </a:solidFill>
                <a:latin typeface="Calibri" pitchFamily="34" charset="0"/>
                <a:ea typeface="Calibri" pitchFamily="34" charset="-122"/>
                <a:cs typeface="Calibri" pitchFamily="34" charset="-120"/>
              </a:rPr>
              <a:t>Also selbst gebaut</a:t>
            </a:r>
            <a:endParaRPr lang="en-US" sz="1600" dirty="0"/>
          </a:p>
        </p:txBody>
      </p:sp>
      <p:sp>
        <p:nvSpPr>
          <p:cNvPr id="18" name="Text 16"/>
          <p:cNvSpPr/>
          <p:nvPr/>
        </p:nvSpPr>
        <p:spPr>
          <a:xfrm>
            <a:off x="822960" y="5202936"/>
            <a:ext cx="4745736" cy="749808"/>
          </a:xfrm>
          <a:prstGeom prst="rect">
            <a:avLst/>
          </a:prstGeom>
          <a:noFill/>
          <a:ln/>
        </p:spPr>
        <p:txBody>
          <a:bodyPr wrap="square" lIns="0" tIns="0" rIns="0" bIns="0" rtlCol="0" anchor="t"/>
          <a:lstStyle/>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Dieselbe Idee, dieselbe Kategorien-Systematik – aber an schleswig-holsteinisches Recht angepasst, offen für alle und um einige Funktionen erweitert.</a:t>
            </a:r>
            <a:endParaRPr lang="en-US" sz="1300" dirty="0"/>
          </a:p>
        </p:txBody>
      </p:sp>
      <p:sp>
        <p:nvSpPr>
          <p:cNvPr id="19" name="Shape 17"/>
          <p:cNvSpPr/>
          <p:nvPr/>
        </p:nvSpPr>
        <p:spPr>
          <a:xfrm>
            <a:off x="6135624" y="3977640"/>
            <a:ext cx="5257800" cy="2084832"/>
          </a:xfrm>
          <a:prstGeom prst="roundRect">
            <a:avLst>
              <a:gd name="adj" fmla="val 5263"/>
            </a:avLst>
          </a:prstGeom>
          <a:solidFill>
            <a:srgbClr val="065A82"/>
          </a:solidFill>
          <a:ln w="12700">
            <a:solidFill>
              <a:srgbClr val="065A82"/>
            </a:solidFill>
            <a:prstDash val="solid"/>
          </a:ln>
          <a:effectLst>
            <a:outerShdw sx="100000" sy="100000" kx="0" ky="0" algn="bl" rotWithShape="0" blurRad="152400" dist="25400" dir="5400000">
              <a:srgbClr val="0B1B2B">
                <a:alpha val="13000"/>
              </a:srgbClr>
            </a:outerShdw>
          </a:effectLst>
        </p:spPr>
      </p:sp>
      <p:sp>
        <p:nvSpPr>
          <p:cNvPr id="20" name="Shape 18"/>
          <p:cNvSpPr/>
          <p:nvPr/>
        </p:nvSpPr>
        <p:spPr>
          <a:xfrm>
            <a:off x="6391656" y="4215384"/>
            <a:ext cx="475488" cy="475488"/>
          </a:xfrm>
          <a:prstGeom prst="ellipse">
            <a:avLst/>
          </a:prstGeom>
          <a:solidFill>
            <a:srgbClr val="FFFFFF"/>
          </a:solidFill>
          <a:ln w="12700">
            <a:solidFill>
              <a:srgbClr val="FFFFFF"/>
            </a:solidFill>
            <a:prstDash val="solid"/>
          </a:ln>
        </p:spPr>
      </p:sp>
      <p:sp>
        <p:nvSpPr>
          <p:cNvPr id="21" name="Text 19"/>
          <p:cNvSpPr/>
          <p:nvPr/>
        </p:nvSpPr>
        <p:spPr>
          <a:xfrm>
            <a:off x="6391656" y="4215384"/>
            <a:ext cx="475488" cy="475488"/>
          </a:xfrm>
          <a:prstGeom prst="rect">
            <a:avLst/>
          </a:prstGeom>
          <a:noFill/>
          <a:ln/>
        </p:spPr>
        <p:txBody>
          <a:bodyPr wrap="square" lIns="0" tIns="0" rIns="0" bIns="0" rtlCol="0" anchor="ctr"/>
          <a:lstStyle/>
          <a:p>
            <a:pPr algn="ctr" indent="0" marL="0">
              <a:buNone/>
            </a:pPr>
            <a:r>
              <a:rPr lang="en-US" sz="1600" b="1" dirty="0">
                <a:solidFill>
                  <a:srgbClr val="065A82"/>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6391656" y="4818888"/>
            <a:ext cx="4745736"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Was daraus folgt, entscheiden wir</a:t>
            </a:r>
            <a:endParaRPr lang="en-US" sz="1600" dirty="0"/>
          </a:p>
        </p:txBody>
      </p:sp>
      <p:sp>
        <p:nvSpPr>
          <p:cNvPr id="23" name="Text 21"/>
          <p:cNvSpPr/>
          <p:nvPr/>
        </p:nvSpPr>
        <p:spPr>
          <a:xfrm>
            <a:off x="6391656" y="5202936"/>
            <a:ext cx="4745736" cy="749808"/>
          </a:xfrm>
          <a:prstGeom prst="rect">
            <a:avLst/>
          </a:prstGeom>
          <a:noFill/>
          <a:ln/>
        </p:spPr>
        <p:txBody>
          <a:bodyPr wrap="square" lIns="0" tIns="0" rIns="0" bIns="0" rtlCol="0" anchor="t"/>
          <a:lstStyle/>
          <a:p>
            <a:pPr indent="0" marL="0">
              <a:lnSpc>
                <a:spcPct val="118000"/>
              </a:lnSpc>
              <a:buNone/>
            </a:pPr>
            <a:r>
              <a:rPr lang="en-US" sz="1300" dirty="0">
                <a:solidFill>
                  <a:srgbClr val="B8C4D0"/>
                </a:solidFill>
                <a:latin typeface="Calibri" pitchFamily="34" charset="0"/>
                <a:ea typeface="Calibri" pitchFamily="34" charset="-122"/>
                <a:cs typeface="Calibri" pitchFamily="34" charset="-120"/>
              </a:rPr>
              <a:t>Die App liefert Zahlen. Ob daraus ein Gespräch mit der Schulleitung wird, eine Überlastungsanzeige oder gar nichts, bleibt jeder und jedem selbst überlassen.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11480"/>
            <a:ext cx="11055096" cy="658368"/>
          </a:xfrm>
          <a:prstGeom prst="rect">
            <a:avLst/>
          </a:prstGeom>
          <a:noFill/>
          <a:ln/>
        </p:spPr>
        <p:txBody>
          <a:bodyPr wrap="square" lIns="0" tIns="0" rIns="0" bIns="0"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Was die App ist</a:t>
            </a:r>
            <a:endParaRPr lang="en-US" sz="3400" dirty="0"/>
          </a:p>
        </p:txBody>
      </p:sp>
      <p:sp>
        <p:nvSpPr>
          <p:cNvPr id="3" name="Text 1"/>
          <p:cNvSpPr/>
          <p:nvPr/>
        </p:nvSpPr>
        <p:spPr>
          <a:xfrm>
            <a:off x="566928" y="1078992"/>
            <a:ext cx="11055096" cy="365760"/>
          </a:xfrm>
          <a:prstGeom prst="rect">
            <a:avLst/>
          </a:prstGeom>
          <a:noFill/>
          <a:ln/>
        </p:spPr>
        <p:txBody>
          <a:bodyPr wrap="square" lIns="0" tIns="0" rIns="0" bIns="0" rtlCol="0" anchor="ctr"/>
          <a:lstStyle/>
          <a:p>
            <a:pPr indent="0" marL="0">
              <a:buNone/>
            </a:pPr>
            <a:r>
              <a:rPr lang="en-US" sz="1500" dirty="0">
                <a:solidFill>
                  <a:srgbClr val="5A6B7A"/>
                </a:solidFill>
                <a:latin typeface="Calibri" pitchFamily="34" charset="0"/>
                <a:ea typeface="Calibri" pitchFamily="34" charset="-122"/>
                <a:cs typeface="Calibri" pitchFamily="34" charset="-120"/>
              </a:rPr>
              <a:t>Eine Web-App, die ohne Installation im Browser läuft</a:t>
            </a:r>
            <a:endParaRPr lang="en-US" sz="1500" dirty="0"/>
          </a:p>
        </p:txBody>
      </p:sp>
      <p:sp>
        <p:nvSpPr>
          <p:cNvPr id="4" name="Shape 2"/>
          <p:cNvSpPr/>
          <p:nvPr/>
        </p:nvSpPr>
        <p:spPr>
          <a:xfrm>
            <a:off x="566928" y="1828800"/>
            <a:ext cx="5257800" cy="1920240"/>
          </a:xfrm>
          <a:prstGeom prst="roundRect">
            <a:avLst>
              <a:gd name="adj" fmla="val 5714"/>
            </a:avLst>
          </a:prstGeom>
          <a:solidFill>
            <a:srgbClr val="F3F6F8"/>
          </a:solidFill>
          <a:ln w="12700">
            <a:solidFill>
              <a:srgbClr val="E2E9EF"/>
            </a:solidFill>
            <a:prstDash val="solid"/>
          </a:ln>
          <a:effectLst>
            <a:outerShdw sx="100000" sy="100000" kx="0" ky="0" algn="bl" rotWithShape="0" blurRad="152400" dist="25400" dir="5400000">
              <a:srgbClr val="0B1B2B">
                <a:alpha val="13000"/>
              </a:srgbClr>
            </a:outerShdw>
          </a:effectLst>
        </p:spPr>
      </p:sp>
      <p:sp>
        <p:nvSpPr>
          <p:cNvPr id="5" name="Shape 3"/>
          <p:cNvSpPr/>
          <p:nvPr/>
        </p:nvSpPr>
        <p:spPr>
          <a:xfrm>
            <a:off x="822960" y="2066544"/>
            <a:ext cx="475488" cy="475488"/>
          </a:xfrm>
          <a:prstGeom prst="ellipse">
            <a:avLst/>
          </a:prstGeom>
          <a:solidFill>
            <a:srgbClr val="065A82"/>
          </a:solidFill>
          <a:ln w="12700">
            <a:solidFill>
              <a:srgbClr val="065A82"/>
            </a:solidFill>
            <a:prstDash val="solid"/>
          </a:ln>
        </p:spPr>
      </p:sp>
      <p:sp>
        <p:nvSpPr>
          <p:cNvPr id="6" name="Text 4"/>
          <p:cNvSpPr/>
          <p:nvPr/>
        </p:nvSpPr>
        <p:spPr>
          <a:xfrm>
            <a:off x="822960" y="206654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p:nvPr/>
        </p:nvSpPr>
        <p:spPr>
          <a:xfrm>
            <a:off x="822960" y="2670048"/>
            <a:ext cx="4745736" cy="365760"/>
          </a:xfrm>
          <a:prstGeom prst="rect">
            <a:avLst/>
          </a:prstGeom>
          <a:noFill/>
          <a:ln/>
        </p:spPr>
        <p:txBody>
          <a:bodyPr wrap="square" lIns="0" tIns="0" rIns="0" bIns="0" rtlCol="0" anchor="t"/>
          <a:lstStyle/>
          <a:p>
            <a:pPr indent="0" marL="0">
              <a:buNone/>
            </a:pPr>
            <a:r>
              <a:rPr lang="en-US" sz="1600" b="1" dirty="0">
                <a:solidFill>
                  <a:srgbClr val="21295C"/>
                </a:solidFill>
                <a:latin typeface="Calibri" pitchFamily="34" charset="0"/>
                <a:ea typeface="Calibri" pitchFamily="34" charset="-122"/>
                <a:cs typeface="Calibri" pitchFamily="34" charset="-120"/>
              </a:rPr>
              <a:t>Kein Server, kein Konto</a:t>
            </a:r>
            <a:endParaRPr lang="en-US" sz="1600" dirty="0"/>
          </a:p>
        </p:txBody>
      </p:sp>
      <p:sp>
        <p:nvSpPr>
          <p:cNvPr id="8" name="Text 6"/>
          <p:cNvSpPr/>
          <p:nvPr/>
        </p:nvSpPr>
        <p:spPr>
          <a:xfrm>
            <a:off x="822960" y="3054096"/>
            <a:ext cx="4745736" cy="585216"/>
          </a:xfrm>
          <a:prstGeom prst="rect">
            <a:avLst/>
          </a:prstGeom>
          <a:noFill/>
          <a:ln/>
        </p:spPr>
        <p:txBody>
          <a:bodyPr wrap="square" lIns="0" tIns="0" rIns="0" bIns="0" rtlCol="0" anchor="t"/>
          <a:lstStyle/>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Alle Daten bleiben im Browser auf dem eigenen Gerät. Es gibt nichts, worauf jemand zugreifen könnte.</a:t>
            </a:r>
            <a:endParaRPr lang="en-US" sz="1300" dirty="0"/>
          </a:p>
        </p:txBody>
      </p:sp>
      <p:sp>
        <p:nvSpPr>
          <p:cNvPr id="9" name="Shape 7"/>
          <p:cNvSpPr/>
          <p:nvPr/>
        </p:nvSpPr>
        <p:spPr>
          <a:xfrm>
            <a:off x="6135624" y="1828800"/>
            <a:ext cx="5257800" cy="1920240"/>
          </a:xfrm>
          <a:prstGeom prst="roundRect">
            <a:avLst>
              <a:gd name="adj" fmla="val 5714"/>
            </a:avLst>
          </a:prstGeom>
          <a:solidFill>
            <a:srgbClr val="F3F6F8"/>
          </a:solidFill>
          <a:ln w="12700">
            <a:solidFill>
              <a:srgbClr val="E2E9EF"/>
            </a:solidFill>
            <a:prstDash val="solid"/>
          </a:ln>
          <a:effectLst>
            <a:outerShdw sx="100000" sy="100000" kx="0" ky="0" algn="bl" rotWithShape="0" blurRad="152400" dist="25400" dir="5400000">
              <a:srgbClr val="0B1B2B">
                <a:alpha val="13000"/>
              </a:srgbClr>
            </a:outerShdw>
          </a:effectLst>
        </p:spPr>
      </p:sp>
      <p:sp>
        <p:nvSpPr>
          <p:cNvPr id="10" name="Shape 8"/>
          <p:cNvSpPr/>
          <p:nvPr/>
        </p:nvSpPr>
        <p:spPr>
          <a:xfrm>
            <a:off x="6391656" y="2066544"/>
            <a:ext cx="475488" cy="475488"/>
          </a:xfrm>
          <a:prstGeom prst="ellipse">
            <a:avLst/>
          </a:prstGeom>
          <a:solidFill>
            <a:srgbClr val="065A82"/>
          </a:solidFill>
          <a:ln w="12700">
            <a:solidFill>
              <a:srgbClr val="065A82"/>
            </a:solidFill>
            <a:prstDash val="solid"/>
          </a:ln>
        </p:spPr>
      </p:sp>
      <p:sp>
        <p:nvSpPr>
          <p:cNvPr id="11" name="Text 9"/>
          <p:cNvSpPr/>
          <p:nvPr/>
        </p:nvSpPr>
        <p:spPr>
          <a:xfrm>
            <a:off x="6391656" y="206654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2" name="Text 10"/>
          <p:cNvSpPr/>
          <p:nvPr/>
        </p:nvSpPr>
        <p:spPr>
          <a:xfrm>
            <a:off x="6391656" y="2670048"/>
            <a:ext cx="4745736" cy="365760"/>
          </a:xfrm>
          <a:prstGeom prst="rect">
            <a:avLst/>
          </a:prstGeom>
          <a:noFill/>
          <a:ln/>
        </p:spPr>
        <p:txBody>
          <a:bodyPr wrap="square" lIns="0" tIns="0" rIns="0" bIns="0" rtlCol="0" anchor="t"/>
          <a:lstStyle/>
          <a:p>
            <a:pPr indent="0" marL="0">
              <a:buNone/>
            </a:pPr>
            <a:r>
              <a:rPr lang="en-US" sz="1600" b="1" dirty="0">
                <a:solidFill>
                  <a:srgbClr val="21295C"/>
                </a:solidFill>
                <a:latin typeface="Calibri" pitchFamily="34" charset="0"/>
                <a:ea typeface="Calibri" pitchFamily="34" charset="-122"/>
                <a:cs typeface="Calibri" pitchFamily="34" charset="-120"/>
              </a:rPr>
              <a:t>Offline nutzbar</a:t>
            </a:r>
            <a:endParaRPr lang="en-US" sz="1600" dirty="0"/>
          </a:p>
        </p:txBody>
      </p:sp>
      <p:sp>
        <p:nvSpPr>
          <p:cNvPr id="13" name="Text 11"/>
          <p:cNvSpPr/>
          <p:nvPr/>
        </p:nvSpPr>
        <p:spPr>
          <a:xfrm>
            <a:off x="6391656" y="3054096"/>
            <a:ext cx="4745736" cy="585216"/>
          </a:xfrm>
          <a:prstGeom prst="rect">
            <a:avLst/>
          </a:prstGeom>
          <a:noFill/>
          <a:ln/>
        </p:spPr>
        <p:txBody>
          <a:bodyPr wrap="square" lIns="0" tIns="0" rIns="0" bIns="0" rtlCol="0" anchor="t"/>
          <a:lstStyle/>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Einmal geöffnet, funktioniert sie ohne Netz – im Klassenraum, im Zug, im Funkloch.</a:t>
            </a:r>
            <a:endParaRPr lang="en-US" sz="1300" dirty="0"/>
          </a:p>
        </p:txBody>
      </p:sp>
      <p:sp>
        <p:nvSpPr>
          <p:cNvPr id="14" name="Shape 12"/>
          <p:cNvSpPr/>
          <p:nvPr/>
        </p:nvSpPr>
        <p:spPr>
          <a:xfrm>
            <a:off x="566928" y="3977640"/>
            <a:ext cx="5257800" cy="1920240"/>
          </a:xfrm>
          <a:prstGeom prst="roundRect">
            <a:avLst>
              <a:gd name="adj" fmla="val 5714"/>
            </a:avLst>
          </a:prstGeom>
          <a:solidFill>
            <a:srgbClr val="F3F6F8"/>
          </a:solidFill>
          <a:ln w="12700">
            <a:solidFill>
              <a:srgbClr val="E2E9EF"/>
            </a:solidFill>
            <a:prstDash val="solid"/>
          </a:ln>
          <a:effectLst>
            <a:outerShdw sx="100000" sy="100000" kx="0" ky="0" algn="bl" rotWithShape="0" blurRad="152400" dist="25400" dir="5400000">
              <a:srgbClr val="0B1B2B">
                <a:alpha val="13000"/>
              </a:srgbClr>
            </a:outerShdw>
          </a:effectLst>
        </p:spPr>
      </p:sp>
      <p:sp>
        <p:nvSpPr>
          <p:cNvPr id="15" name="Shape 13"/>
          <p:cNvSpPr/>
          <p:nvPr/>
        </p:nvSpPr>
        <p:spPr>
          <a:xfrm>
            <a:off x="822960" y="4215384"/>
            <a:ext cx="475488" cy="475488"/>
          </a:xfrm>
          <a:prstGeom prst="ellipse">
            <a:avLst/>
          </a:prstGeom>
          <a:solidFill>
            <a:srgbClr val="065A82"/>
          </a:solidFill>
          <a:ln w="12700">
            <a:solidFill>
              <a:srgbClr val="065A82"/>
            </a:solidFill>
            <a:prstDash val="solid"/>
          </a:ln>
        </p:spPr>
      </p:sp>
      <p:sp>
        <p:nvSpPr>
          <p:cNvPr id="16" name="Text 14"/>
          <p:cNvSpPr/>
          <p:nvPr/>
        </p:nvSpPr>
        <p:spPr>
          <a:xfrm>
            <a:off x="822960" y="421538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822960" y="4818888"/>
            <a:ext cx="4745736" cy="365760"/>
          </a:xfrm>
          <a:prstGeom prst="rect">
            <a:avLst/>
          </a:prstGeom>
          <a:noFill/>
          <a:ln/>
        </p:spPr>
        <p:txBody>
          <a:bodyPr wrap="square" lIns="0" tIns="0" rIns="0" bIns="0" rtlCol="0" anchor="t"/>
          <a:lstStyle/>
          <a:p>
            <a:pPr indent="0" marL="0">
              <a:buNone/>
            </a:pPr>
            <a:r>
              <a:rPr lang="en-US" sz="1600" b="1" dirty="0">
                <a:solidFill>
                  <a:srgbClr val="21295C"/>
                </a:solidFill>
                <a:latin typeface="Calibri" pitchFamily="34" charset="0"/>
                <a:ea typeface="Calibri" pitchFamily="34" charset="-122"/>
                <a:cs typeface="Calibri" pitchFamily="34" charset="-120"/>
              </a:rPr>
              <a:t>Auf dem Telefon wie eine App</a:t>
            </a:r>
            <a:endParaRPr lang="en-US" sz="1600" dirty="0"/>
          </a:p>
        </p:txBody>
      </p:sp>
      <p:sp>
        <p:nvSpPr>
          <p:cNvPr id="18" name="Text 16"/>
          <p:cNvSpPr/>
          <p:nvPr/>
        </p:nvSpPr>
        <p:spPr>
          <a:xfrm>
            <a:off x="822960" y="5202936"/>
            <a:ext cx="4745736" cy="585216"/>
          </a:xfrm>
          <a:prstGeom prst="rect">
            <a:avLst/>
          </a:prstGeom>
          <a:noFill/>
          <a:ln/>
        </p:spPr>
        <p:txBody>
          <a:bodyPr wrap="square" lIns="0" tIns="0" rIns="0" bIns="0" rtlCol="0" anchor="t"/>
          <a:lstStyle/>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Zum Startbildschirm hinzufügen, fertig. Android und iPhone, hell und dunkel.</a:t>
            </a:r>
            <a:endParaRPr lang="en-US" sz="1300" dirty="0"/>
          </a:p>
        </p:txBody>
      </p:sp>
      <p:sp>
        <p:nvSpPr>
          <p:cNvPr id="19" name="Shape 17"/>
          <p:cNvSpPr/>
          <p:nvPr/>
        </p:nvSpPr>
        <p:spPr>
          <a:xfrm>
            <a:off x="6135624" y="3977640"/>
            <a:ext cx="5257800" cy="1920240"/>
          </a:xfrm>
          <a:prstGeom prst="roundRect">
            <a:avLst>
              <a:gd name="adj" fmla="val 5714"/>
            </a:avLst>
          </a:prstGeom>
          <a:solidFill>
            <a:srgbClr val="F3F6F8"/>
          </a:solidFill>
          <a:ln w="12700">
            <a:solidFill>
              <a:srgbClr val="E2E9EF"/>
            </a:solidFill>
            <a:prstDash val="solid"/>
          </a:ln>
          <a:effectLst>
            <a:outerShdw sx="100000" sy="100000" kx="0" ky="0" algn="bl" rotWithShape="0" blurRad="152400" dist="25400" dir="5400000">
              <a:srgbClr val="0B1B2B">
                <a:alpha val="13000"/>
              </a:srgbClr>
            </a:outerShdw>
          </a:effectLst>
        </p:spPr>
      </p:sp>
      <p:sp>
        <p:nvSpPr>
          <p:cNvPr id="20" name="Shape 18"/>
          <p:cNvSpPr/>
          <p:nvPr/>
        </p:nvSpPr>
        <p:spPr>
          <a:xfrm>
            <a:off x="6391656" y="4215384"/>
            <a:ext cx="475488" cy="475488"/>
          </a:xfrm>
          <a:prstGeom prst="ellipse">
            <a:avLst/>
          </a:prstGeom>
          <a:solidFill>
            <a:srgbClr val="065A82"/>
          </a:solidFill>
          <a:ln w="12700">
            <a:solidFill>
              <a:srgbClr val="065A82"/>
            </a:solidFill>
            <a:prstDash val="solid"/>
          </a:ln>
        </p:spPr>
      </p:sp>
      <p:sp>
        <p:nvSpPr>
          <p:cNvPr id="21" name="Text 19"/>
          <p:cNvSpPr/>
          <p:nvPr/>
        </p:nvSpPr>
        <p:spPr>
          <a:xfrm>
            <a:off x="6391656" y="421538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22" name="Text 20"/>
          <p:cNvSpPr/>
          <p:nvPr/>
        </p:nvSpPr>
        <p:spPr>
          <a:xfrm>
            <a:off x="6391656" y="4818888"/>
            <a:ext cx="4745736" cy="365760"/>
          </a:xfrm>
          <a:prstGeom prst="rect">
            <a:avLst/>
          </a:prstGeom>
          <a:noFill/>
          <a:ln/>
        </p:spPr>
        <p:txBody>
          <a:bodyPr wrap="square" lIns="0" tIns="0" rIns="0" bIns="0" rtlCol="0" anchor="t"/>
          <a:lstStyle/>
          <a:p>
            <a:pPr indent="0" marL="0">
              <a:buNone/>
            </a:pPr>
            <a:r>
              <a:rPr lang="en-US" sz="1600" b="1" dirty="0">
                <a:solidFill>
                  <a:srgbClr val="21295C"/>
                </a:solidFill>
                <a:latin typeface="Calibri" pitchFamily="34" charset="0"/>
                <a:ea typeface="Calibri" pitchFamily="34" charset="-122"/>
                <a:cs typeface="Calibri" pitchFamily="34" charset="-120"/>
              </a:rPr>
              <a:t>Für Schleswig-Holstein gerechnet</a:t>
            </a:r>
            <a:endParaRPr lang="en-US" sz="1600" dirty="0"/>
          </a:p>
        </p:txBody>
      </p:sp>
      <p:sp>
        <p:nvSpPr>
          <p:cNvPr id="23" name="Text 21"/>
          <p:cNvSpPr/>
          <p:nvPr/>
        </p:nvSpPr>
        <p:spPr>
          <a:xfrm>
            <a:off x="6391656" y="5202936"/>
            <a:ext cx="4745736" cy="585216"/>
          </a:xfrm>
          <a:prstGeom prst="rect">
            <a:avLst/>
          </a:prstGeom>
          <a:noFill/>
          <a:ln/>
        </p:spPr>
        <p:txBody>
          <a:bodyPr wrap="square" lIns="0" tIns="0" rIns="0" bIns="0" rtlCol="0" anchor="t"/>
          <a:lstStyle/>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41 Wochenstunden, Pflichtstunden nach Schulart, Ferien und Feiertage bereits hinterlegt.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11480"/>
            <a:ext cx="11055096" cy="658368"/>
          </a:xfrm>
          <a:prstGeom prst="rect">
            <a:avLst/>
          </a:prstGeom>
          <a:noFill/>
          <a:ln/>
        </p:spPr>
        <p:txBody>
          <a:bodyPr wrap="square" lIns="0" tIns="0" rIns="0" bIns="0"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Der Kern: Ferien sind kein Urlaub</a:t>
            </a:r>
            <a:endParaRPr lang="en-US" sz="3400" dirty="0"/>
          </a:p>
        </p:txBody>
      </p:sp>
      <p:sp>
        <p:nvSpPr>
          <p:cNvPr id="3" name="Text 1"/>
          <p:cNvSpPr/>
          <p:nvPr/>
        </p:nvSpPr>
        <p:spPr>
          <a:xfrm>
            <a:off x="566928" y="1078992"/>
            <a:ext cx="11055096" cy="365760"/>
          </a:xfrm>
          <a:prstGeom prst="rect">
            <a:avLst/>
          </a:prstGeom>
          <a:noFill/>
          <a:ln/>
        </p:spPr>
        <p:txBody>
          <a:bodyPr wrap="square" lIns="0" tIns="0" rIns="0" bIns="0" rtlCol="0" anchor="ctr"/>
          <a:lstStyle/>
          <a:p>
            <a:pPr indent="0" marL="0">
              <a:buNone/>
            </a:pPr>
            <a:r>
              <a:rPr lang="en-US" sz="1500" dirty="0">
                <a:solidFill>
                  <a:srgbClr val="5A6B7A"/>
                </a:solidFill>
                <a:latin typeface="Calibri" pitchFamily="34" charset="0"/>
                <a:ea typeface="Calibri" pitchFamily="34" charset="-122"/>
                <a:cs typeface="Calibri" pitchFamily="34" charset="-120"/>
              </a:rPr>
              <a:t>Das überrascht beim ersten Blick – und ist genau der Punkt</a:t>
            </a:r>
            <a:endParaRPr lang="en-US" sz="1500" dirty="0"/>
          </a:p>
        </p:txBody>
      </p:sp>
      <p:sp>
        <p:nvSpPr>
          <p:cNvPr id="4" name="Text 2"/>
          <p:cNvSpPr/>
          <p:nvPr/>
        </p:nvSpPr>
        <p:spPr>
          <a:xfrm>
            <a:off x="566928" y="1691640"/>
            <a:ext cx="6492240" cy="1188720"/>
          </a:xfrm>
          <a:prstGeom prst="rect">
            <a:avLst/>
          </a:prstGeom>
          <a:noFill/>
          <a:ln/>
        </p:spPr>
        <p:txBody>
          <a:bodyPr wrap="square" lIns="0" tIns="0" rIns="0" bIns="0" rtlCol="0" anchor="ctr"/>
          <a:lstStyle/>
          <a:p>
            <a:pPr indent="0" marL="0">
              <a:lnSpc>
                <a:spcPct val="130000"/>
              </a:lnSpc>
              <a:buNone/>
            </a:pPr>
            <a:r>
              <a:rPr lang="en-US" sz="1500" dirty="0">
                <a:solidFill>
                  <a:srgbClr val="1B2430"/>
                </a:solidFill>
                <a:latin typeface="Calibri" pitchFamily="34" charset="0"/>
                <a:ea typeface="Calibri" pitchFamily="34" charset="-122"/>
                <a:cs typeface="Calibri" pitchFamily="34" charset="-120"/>
              </a:rPr>
              <a:t>Der Erholungsurlaub beträgt 30 Werktage im Jahr, also sechs Wochen. Die Schulferien umfassen rund zwölf Wochen. Die übrigen Tage sind reguläre Arbeitstage, an denen Arbeitszeit zu leisten ist – und an denen erfahrungsgemäß auch gearbeitet wird.</a:t>
            </a:r>
            <a:endParaRPr lang="en-US" sz="1500" dirty="0"/>
          </a:p>
        </p:txBody>
      </p:sp>
      <p:sp>
        <p:nvSpPr>
          <p:cNvPr id="5" name="Text 3"/>
          <p:cNvSpPr/>
          <p:nvPr/>
        </p:nvSpPr>
        <p:spPr>
          <a:xfrm>
            <a:off x="566928" y="3063240"/>
            <a:ext cx="2103120" cy="868680"/>
          </a:xfrm>
          <a:prstGeom prst="rect">
            <a:avLst/>
          </a:prstGeom>
          <a:noFill/>
          <a:ln/>
        </p:spPr>
        <p:txBody>
          <a:bodyPr wrap="square" lIns="0" tIns="0" rIns="0" bIns="0" rtlCol="0" anchor="ctr"/>
          <a:lstStyle/>
          <a:p>
            <a:pPr algn="l" indent="0" marL="0">
              <a:buNone/>
            </a:pPr>
            <a:r>
              <a:rPr lang="en-US" sz="5400" b="1" dirty="0">
                <a:solidFill>
                  <a:srgbClr val="065A82"/>
                </a:solidFill>
                <a:latin typeface="Cambria" pitchFamily="34" charset="0"/>
                <a:ea typeface="Cambria" pitchFamily="34" charset="-122"/>
                <a:cs typeface="Cambria" pitchFamily="34" charset="-120"/>
              </a:rPr>
              <a:t>1 837</a:t>
            </a:r>
            <a:endParaRPr lang="en-US" sz="5400" dirty="0"/>
          </a:p>
        </p:txBody>
      </p:sp>
      <p:sp>
        <p:nvSpPr>
          <p:cNvPr id="6" name="Text 4"/>
          <p:cNvSpPr/>
          <p:nvPr/>
        </p:nvSpPr>
        <p:spPr>
          <a:xfrm>
            <a:off x="566928" y="3931920"/>
            <a:ext cx="2103120" cy="658368"/>
          </a:xfrm>
          <a:prstGeom prst="rect">
            <a:avLst/>
          </a:prstGeom>
          <a:noFill/>
          <a:ln/>
        </p:spPr>
        <p:txBody>
          <a:bodyPr wrap="square" lIns="0" tIns="0" rIns="0" bIns="0" rtlCol="0" anchor="t"/>
          <a:lstStyle/>
          <a:p>
            <a:pPr algn="l" indent="0" marL="0">
              <a:lnSpc>
                <a:spcPct val="115000"/>
              </a:lnSpc>
              <a:buNone/>
            </a:pPr>
            <a:r>
              <a:rPr lang="en-US" sz="1300" dirty="0">
                <a:solidFill>
                  <a:srgbClr val="5A6B7A"/>
                </a:solidFill>
                <a:latin typeface="Calibri" pitchFamily="34" charset="0"/>
                <a:ea typeface="Calibri" pitchFamily="34" charset="-122"/>
                <a:cs typeface="Calibri" pitchFamily="34" charset="-120"/>
              </a:rPr>
              <a:t>Stunden Jahresarbeitszeit</a:t>
            </a:r>
            <a:endParaRPr lang="en-US" sz="1300" dirty="0"/>
          </a:p>
          <a:p>
            <a:pPr algn="l" indent="0" marL="0">
              <a:lnSpc>
                <a:spcPct val="115000"/>
              </a:lnSpc>
              <a:buNone/>
            </a:pPr>
            <a:r>
              <a:rPr lang="en-US" sz="1300" dirty="0">
                <a:solidFill>
                  <a:srgbClr val="5A6B7A"/>
                </a:solidFill>
                <a:latin typeface="Calibri" pitchFamily="34" charset="0"/>
                <a:ea typeface="Calibri" pitchFamily="34" charset="-122"/>
                <a:cs typeface="Calibri" pitchFamily="34" charset="-120"/>
              </a:rPr>
              <a:t>bei Vollzeit, 2026/2027</a:t>
            </a:r>
            <a:endParaRPr lang="en-US" sz="1300" dirty="0"/>
          </a:p>
        </p:txBody>
      </p:sp>
      <p:sp>
        <p:nvSpPr>
          <p:cNvPr id="7" name="Text 5"/>
          <p:cNvSpPr/>
          <p:nvPr/>
        </p:nvSpPr>
        <p:spPr>
          <a:xfrm>
            <a:off x="2807208" y="3063240"/>
            <a:ext cx="2103120" cy="868680"/>
          </a:xfrm>
          <a:prstGeom prst="rect">
            <a:avLst/>
          </a:prstGeom>
          <a:noFill/>
          <a:ln/>
        </p:spPr>
        <p:txBody>
          <a:bodyPr wrap="square" lIns="0" tIns="0" rIns="0" bIns="0" rtlCol="0" anchor="ctr"/>
          <a:lstStyle/>
          <a:p>
            <a:pPr algn="l" indent="0" marL="0">
              <a:buNone/>
            </a:pPr>
            <a:r>
              <a:rPr lang="en-US" sz="5400" b="1" dirty="0">
                <a:solidFill>
                  <a:srgbClr val="065A82"/>
                </a:solidFill>
                <a:latin typeface="Cambria" pitchFamily="34" charset="0"/>
                <a:ea typeface="Cambria" pitchFamily="34" charset="-122"/>
                <a:cs typeface="Cambria" pitchFamily="34" charset="-120"/>
              </a:rPr>
              <a:t>224</a:t>
            </a:r>
            <a:endParaRPr lang="en-US" sz="5400" dirty="0"/>
          </a:p>
        </p:txBody>
      </p:sp>
      <p:sp>
        <p:nvSpPr>
          <p:cNvPr id="8" name="Text 6"/>
          <p:cNvSpPr/>
          <p:nvPr/>
        </p:nvSpPr>
        <p:spPr>
          <a:xfrm>
            <a:off x="2807208" y="3931920"/>
            <a:ext cx="2103120" cy="658368"/>
          </a:xfrm>
          <a:prstGeom prst="rect">
            <a:avLst/>
          </a:prstGeom>
          <a:noFill/>
          <a:ln/>
        </p:spPr>
        <p:txBody>
          <a:bodyPr wrap="square" lIns="0" tIns="0" rIns="0" bIns="0" rtlCol="0" anchor="t"/>
          <a:lstStyle/>
          <a:p>
            <a:pPr algn="l" indent="0" marL="0">
              <a:lnSpc>
                <a:spcPct val="115000"/>
              </a:lnSpc>
              <a:buNone/>
            </a:pPr>
            <a:r>
              <a:rPr lang="en-US" sz="1300" dirty="0">
                <a:solidFill>
                  <a:srgbClr val="5A6B7A"/>
                </a:solidFill>
                <a:latin typeface="Calibri" pitchFamily="34" charset="0"/>
                <a:ea typeface="Calibri" pitchFamily="34" charset="-122"/>
                <a:cs typeface="Calibri" pitchFamily="34" charset="-120"/>
              </a:rPr>
              <a:t>Arbeitstage mit</a:t>
            </a:r>
            <a:endParaRPr lang="en-US" sz="1300" dirty="0"/>
          </a:p>
          <a:p>
            <a:pPr algn="l" indent="0" marL="0">
              <a:lnSpc>
                <a:spcPct val="115000"/>
              </a:lnSpc>
              <a:buNone/>
            </a:pPr>
            <a:r>
              <a:rPr lang="en-US" sz="1300" dirty="0">
                <a:solidFill>
                  <a:srgbClr val="5A6B7A"/>
                </a:solidFill>
                <a:latin typeface="Calibri" pitchFamily="34" charset="0"/>
                <a:ea typeface="Calibri" pitchFamily="34" charset="-122"/>
                <a:cs typeface="Calibri" pitchFamily="34" charset="-120"/>
              </a:rPr>
              <a:t>Soll-Arbeitszeit</a:t>
            </a:r>
            <a:endParaRPr lang="en-US" sz="1300" dirty="0"/>
          </a:p>
        </p:txBody>
      </p:sp>
      <p:sp>
        <p:nvSpPr>
          <p:cNvPr id="9" name="Text 7"/>
          <p:cNvSpPr/>
          <p:nvPr/>
        </p:nvSpPr>
        <p:spPr>
          <a:xfrm>
            <a:off x="5047488" y="3063240"/>
            <a:ext cx="2103120" cy="868680"/>
          </a:xfrm>
          <a:prstGeom prst="rect">
            <a:avLst/>
          </a:prstGeom>
          <a:noFill/>
          <a:ln/>
        </p:spPr>
        <p:txBody>
          <a:bodyPr wrap="square" lIns="0" tIns="0" rIns="0" bIns="0" rtlCol="0" anchor="ctr"/>
          <a:lstStyle/>
          <a:p>
            <a:pPr algn="l" indent="0" marL="0">
              <a:buNone/>
            </a:pPr>
            <a:r>
              <a:rPr lang="en-US" sz="5400" b="1" dirty="0">
                <a:solidFill>
                  <a:srgbClr val="C05621"/>
                </a:solidFill>
                <a:latin typeface="Cambria" pitchFamily="34" charset="0"/>
                <a:ea typeface="Cambria" pitchFamily="34" charset="-122"/>
                <a:cs typeface="Cambria" pitchFamily="34" charset="-120"/>
              </a:rPr>
              <a:t>30</a:t>
            </a:r>
            <a:endParaRPr lang="en-US" sz="5400" dirty="0"/>
          </a:p>
        </p:txBody>
      </p:sp>
      <p:sp>
        <p:nvSpPr>
          <p:cNvPr id="10" name="Text 8"/>
          <p:cNvSpPr/>
          <p:nvPr/>
        </p:nvSpPr>
        <p:spPr>
          <a:xfrm>
            <a:off x="5047488" y="3931920"/>
            <a:ext cx="2103120" cy="658368"/>
          </a:xfrm>
          <a:prstGeom prst="rect">
            <a:avLst/>
          </a:prstGeom>
          <a:noFill/>
          <a:ln/>
        </p:spPr>
        <p:txBody>
          <a:bodyPr wrap="square" lIns="0" tIns="0" rIns="0" bIns="0" rtlCol="0" anchor="t"/>
          <a:lstStyle/>
          <a:p>
            <a:pPr algn="l" indent="0" marL="0">
              <a:lnSpc>
                <a:spcPct val="115000"/>
              </a:lnSpc>
              <a:buNone/>
            </a:pPr>
            <a:r>
              <a:rPr lang="en-US" sz="1300" dirty="0">
                <a:solidFill>
                  <a:srgbClr val="5A6B7A"/>
                </a:solidFill>
                <a:latin typeface="Calibri" pitchFamily="34" charset="0"/>
                <a:ea typeface="Calibri" pitchFamily="34" charset="-122"/>
                <a:cs typeface="Calibri" pitchFamily="34" charset="-120"/>
              </a:rPr>
              <a:t>davon in der</a:t>
            </a:r>
            <a:endParaRPr lang="en-US" sz="1300" dirty="0"/>
          </a:p>
          <a:p>
            <a:pPr algn="l" indent="0" marL="0">
              <a:lnSpc>
                <a:spcPct val="115000"/>
              </a:lnSpc>
              <a:buNone/>
            </a:pPr>
            <a:r>
              <a:rPr lang="en-US" sz="1300" dirty="0">
                <a:solidFill>
                  <a:srgbClr val="5A6B7A"/>
                </a:solidFill>
                <a:latin typeface="Calibri" pitchFamily="34" charset="0"/>
                <a:ea typeface="Calibri" pitchFamily="34" charset="-122"/>
                <a:cs typeface="Calibri" pitchFamily="34" charset="-120"/>
              </a:rPr>
              <a:t>unterrichtsfreien Zeit</a:t>
            </a:r>
            <a:endParaRPr lang="en-US" sz="1300" dirty="0"/>
          </a:p>
        </p:txBody>
      </p:sp>
      <p:sp>
        <p:nvSpPr>
          <p:cNvPr id="11" name="Shape 9"/>
          <p:cNvSpPr/>
          <p:nvPr/>
        </p:nvSpPr>
        <p:spPr>
          <a:xfrm>
            <a:off x="7543800" y="1691640"/>
            <a:ext cx="4069080" cy="3246120"/>
          </a:xfrm>
          <a:prstGeom prst="roundRect">
            <a:avLst>
              <a:gd name="adj" fmla="val 3380"/>
            </a:avLst>
          </a:prstGeom>
          <a:solidFill>
            <a:srgbClr val="065A82"/>
          </a:solidFill>
          <a:ln w="12700">
            <a:solidFill>
              <a:srgbClr val="065A82"/>
            </a:solidFill>
            <a:prstDash val="solid"/>
          </a:ln>
          <a:effectLst>
            <a:outerShdw sx="100000" sy="100000" kx="0" ky="0" algn="bl" rotWithShape="0" blurRad="152400" dist="25400" dir="5400000">
              <a:srgbClr val="0B1B2B">
                <a:alpha val="13000"/>
              </a:srgbClr>
            </a:outerShdw>
          </a:effectLst>
        </p:spPr>
      </p:sp>
      <p:sp>
        <p:nvSpPr>
          <p:cNvPr id="12" name="Shape 10"/>
          <p:cNvSpPr/>
          <p:nvPr/>
        </p:nvSpPr>
        <p:spPr>
          <a:xfrm>
            <a:off x="7799832" y="1929384"/>
            <a:ext cx="475488" cy="475488"/>
          </a:xfrm>
          <a:prstGeom prst="ellipse">
            <a:avLst/>
          </a:prstGeom>
          <a:solidFill>
            <a:srgbClr val="FFFFFF"/>
          </a:solidFill>
          <a:ln w="12700">
            <a:solidFill>
              <a:srgbClr val="FFFFFF"/>
            </a:solidFill>
            <a:prstDash val="solid"/>
          </a:ln>
        </p:spPr>
      </p:sp>
      <p:sp>
        <p:nvSpPr>
          <p:cNvPr id="13" name="Text 11"/>
          <p:cNvSpPr/>
          <p:nvPr/>
        </p:nvSpPr>
        <p:spPr>
          <a:xfrm>
            <a:off x="7799832" y="1929384"/>
            <a:ext cx="475488" cy="475488"/>
          </a:xfrm>
          <a:prstGeom prst="rect">
            <a:avLst/>
          </a:prstGeom>
          <a:noFill/>
          <a:ln/>
        </p:spPr>
        <p:txBody>
          <a:bodyPr wrap="square" lIns="0" tIns="0" rIns="0" bIns="0" rtlCol="0" anchor="ctr"/>
          <a:lstStyle/>
          <a:p>
            <a:pPr algn="ctr" indent="0" marL="0">
              <a:buNone/>
            </a:pPr>
            <a:r>
              <a:rPr lang="en-US" sz="1600" b="1" dirty="0">
                <a:solidFill>
                  <a:srgbClr val="065A82"/>
                </a:solidFill>
                <a:latin typeface="Calibri" pitchFamily="34" charset="0"/>
                <a:ea typeface="Calibri" pitchFamily="34" charset="-122"/>
                <a:cs typeface="Calibri" pitchFamily="34" charset="-120"/>
              </a:rPr>
              <a:t>÷</a:t>
            </a:r>
            <a:endParaRPr lang="en-US" sz="1600" dirty="0"/>
          </a:p>
        </p:txBody>
      </p:sp>
      <p:sp>
        <p:nvSpPr>
          <p:cNvPr id="14" name="Text 12"/>
          <p:cNvSpPr/>
          <p:nvPr/>
        </p:nvSpPr>
        <p:spPr>
          <a:xfrm>
            <a:off x="7799832" y="2532888"/>
            <a:ext cx="3557016"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So wird gerechnet</a:t>
            </a:r>
            <a:endParaRPr lang="en-US" sz="1600" dirty="0"/>
          </a:p>
        </p:txBody>
      </p:sp>
      <p:sp>
        <p:nvSpPr>
          <p:cNvPr id="15" name="Text 13"/>
          <p:cNvSpPr/>
          <p:nvPr/>
        </p:nvSpPr>
        <p:spPr>
          <a:xfrm>
            <a:off x="7799832" y="2916936"/>
            <a:ext cx="3557016" cy="1911096"/>
          </a:xfrm>
          <a:prstGeom prst="rect">
            <a:avLst/>
          </a:prstGeom>
          <a:noFill/>
          <a:ln/>
        </p:spPr>
        <p:txBody>
          <a:bodyPr wrap="square" lIns="0" tIns="0" rIns="0" bIns="0" rtlCol="0" anchor="t"/>
          <a:lstStyle/>
          <a:p>
            <a:pPr indent="0" marL="0">
              <a:lnSpc>
                <a:spcPct val="118000"/>
              </a:lnSpc>
              <a:buNone/>
            </a:pPr>
            <a:r>
              <a:rPr lang="en-US" sz="1300" dirty="0">
                <a:solidFill>
                  <a:srgbClr val="B8C4D0"/>
                </a:solidFill>
                <a:latin typeface="Calibri" pitchFamily="34" charset="0"/>
                <a:ea typeface="Calibri" pitchFamily="34" charset="-122"/>
                <a:cs typeface="Calibri" pitchFamily="34" charset="-120"/>
              </a:rPr>
              <a:t>Tages-Soll = Wochenarbeitszeit ÷ 5</a:t>
            </a:r>
            <a:endParaRPr lang="en-US" sz="1300" dirty="0"/>
          </a:p>
          <a:p>
            <a:pPr indent="0" marL="0">
              <a:lnSpc>
                <a:spcPct val="118000"/>
              </a:lnSpc>
              <a:buNone/>
            </a:pPr>
            <a:r>
              <a:rPr lang="en-US" sz="1300" dirty="0">
                <a:solidFill>
                  <a:srgbClr val="B8C4D0"/>
                </a:solidFill>
                <a:latin typeface="Calibri" pitchFamily="34" charset="0"/>
                <a:ea typeface="Calibri" pitchFamily="34" charset="-122"/>
                <a:cs typeface="Calibri" pitchFamily="34" charset="-120"/>
              </a:rPr>
              <a:t>= 41 h ÷ 5 = 8:12 h bei Vollzeit</a:t>
            </a:r>
            <a:endParaRPr lang="en-US" sz="1300" dirty="0"/>
          </a:p>
          <a:p>
            <a:pPr indent="0" marL="0">
              <a:lnSpc>
                <a:spcPct val="118000"/>
              </a:lnSpc>
              <a:buNone/>
            </a:pPr>
            <a:endParaRPr lang="en-US" sz="1300" dirty="0"/>
          </a:p>
          <a:p>
            <a:pPr indent="0" marL="0">
              <a:lnSpc>
                <a:spcPct val="118000"/>
              </a:lnSpc>
              <a:buNone/>
            </a:pPr>
            <a:r>
              <a:rPr lang="en-US" sz="1300" dirty="0">
                <a:solidFill>
                  <a:srgbClr val="B8C4D0"/>
                </a:solidFill>
                <a:latin typeface="Calibri" pitchFamily="34" charset="0"/>
                <a:ea typeface="Calibri" pitchFamily="34" charset="-122"/>
                <a:cs typeface="Calibri" pitchFamily="34" charset="-120"/>
              </a:rPr>
              <a:t>Soll besteht an jedem Werktag, der weder Feiertag noch Urlaub noch Krankheitstag ist – auch in den Ferien.</a:t>
            </a:r>
            <a:endParaRPr lang="en-US" sz="1300" dirty="0"/>
          </a:p>
          <a:p>
            <a:pPr indent="0" marL="0">
              <a:lnSpc>
                <a:spcPct val="118000"/>
              </a:lnSpc>
              <a:buNone/>
            </a:pPr>
            <a:endParaRPr lang="en-US" sz="1300" dirty="0"/>
          </a:p>
          <a:p>
            <a:pPr indent="0" marL="0">
              <a:lnSpc>
                <a:spcPct val="118000"/>
              </a:lnSpc>
              <a:buNone/>
            </a:pPr>
            <a:r>
              <a:rPr lang="en-US" sz="1300" dirty="0">
                <a:solidFill>
                  <a:srgbClr val="B8C4D0"/>
                </a:solidFill>
                <a:latin typeface="Calibri" pitchFamily="34" charset="0"/>
                <a:ea typeface="Calibri" pitchFamily="34" charset="-122"/>
                <a:cs typeface="Calibri" pitchFamily="34" charset="-120"/>
              </a:rPr>
              <a:t>Bei Teilzeit anteilig.</a:t>
            </a:r>
            <a:endParaRPr lang="en-US" sz="1300" dirty="0"/>
          </a:p>
        </p:txBody>
      </p:sp>
      <p:sp>
        <p:nvSpPr>
          <p:cNvPr id="16" name="Text 14"/>
          <p:cNvSpPr/>
          <p:nvPr/>
        </p:nvSpPr>
        <p:spPr>
          <a:xfrm>
            <a:off x="566928" y="5257800"/>
            <a:ext cx="10607040" cy="640080"/>
          </a:xfrm>
          <a:prstGeom prst="rect">
            <a:avLst/>
          </a:prstGeom>
          <a:noFill/>
          <a:ln/>
        </p:spPr>
        <p:txBody>
          <a:bodyPr wrap="square" lIns="0" tIns="0" rIns="0" bIns="0" rtlCol="0" anchor="ctr"/>
          <a:lstStyle/>
          <a:p>
            <a:pPr indent="0" marL="0">
              <a:lnSpc>
                <a:spcPct val="120000"/>
              </a:lnSpc>
              <a:buNone/>
            </a:pPr>
            <a:r>
              <a:rPr lang="en-US" sz="1400" i="1" dirty="0">
                <a:solidFill>
                  <a:srgbClr val="065A82"/>
                </a:solidFill>
                <a:latin typeface="Calibri" pitchFamily="34" charset="0"/>
                <a:ea typeface="Calibri" pitchFamily="34" charset="-122"/>
                <a:cs typeface="Calibri" pitchFamily="34" charset="-120"/>
              </a:rPr>
              <a:t>Deshalb trägt man in der App seine 30 Urlaubstage ein – sonst rechnet sie mit vollem Soll über alle zwölf Ferienwochen, und der Saldo stimmt nicht.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11480"/>
            <a:ext cx="11055096" cy="658368"/>
          </a:xfrm>
          <a:prstGeom prst="rect">
            <a:avLst/>
          </a:prstGeom>
          <a:noFill/>
          <a:ln/>
        </p:spPr>
        <p:txBody>
          <a:bodyPr wrap="square" lIns="0" tIns="0" rIns="0" bIns="0"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Zwölf Wochen Ferien, sechs Wochen Urlaub</a:t>
            </a:r>
            <a:endParaRPr lang="en-US" sz="3400" dirty="0"/>
          </a:p>
        </p:txBody>
      </p:sp>
      <p:sp>
        <p:nvSpPr>
          <p:cNvPr id="3" name="Text 1"/>
          <p:cNvSpPr/>
          <p:nvPr/>
        </p:nvSpPr>
        <p:spPr>
          <a:xfrm>
            <a:off x="566928" y="1078992"/>
            <a:ext cx="11055096" cy="365760"/>
          </a:xfrm>
          <a:prstGeom prst="rect">
            <a:avLst/>
          </a:prstGeom>
          <a:noFill/>
          <a:ln/>
        </p:spPr>
        <p:txBody>
          <a:bodyPr wrap="square" lIns="0" tIns="0" rIns="0" bIns="0" rtlCol="0" anchor="ctr"/>
          <a:lstStyle/>
          <a:p>
            <a:pPr indent="0" marL="0">
              <a:buNone/>
            </a:pPr>
            <a:r>
              <a:rPr lang="en-US" sz="1500" dirty="0">
                <a:solidFill>
                  <a:srgbClr val="5A6B7A"/>
                </a:solidFill>
                <a:latin typeface="Calibri" pitchFamily="34" charset="0"/>
                <a:ea typeface="Calibri" pitchFamily="34" charset="-122"/>
                <a:cs typeface="Calibri" pitchFamily="34" charset="-120"/>
              </a:rPr>
              <a:t>Die Differenz ist Arbeitszeit – sie ist nur bisher unsichtbar</a:t>
            </a:r>
            <a:endParaRPr lang="en-US" sz="1500" dirty="0"/>
          </a:p>
        </p:txBody>
      </p:sp>
      <p:graphicFrame>
        <p:nvGraphicFramePr>
          <p:cNvPr id="4" name="Chart 0" descr=""/>
          <p:cNvGraphicFramePr/>
          <p:nvPr/>
        </p:nvGraphicFramePr>
        <p:xfrm>
          <a:off x="566928" y="1737360"/>
          <a:ext cx="694944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63840" y="1737360"/>
            <a:ext cx="3749040" cy="3931920"/>
          </a:xfrm>
          <a:prstGeom prst="roundRect">
            <a:avLst>
              <a:gd name="adj" fmla="val 2927"/>
            </a:avLst>
          </a:prstGeom>
          <a:solidFill>
            <a:srgbClr val="F3F6F8"/>
          </a:solidFill>
          <a:ln w="12700">
            <a:solidFill>
              <a:srgbClr val="E2E9EF"/>
            </a:solidFill>
            <a:prstDash val="solid"/>
          </a:ln>
          <a:effectLst>
            <a:outerShdw sx="100000" sy="100000" kx="0" ky="0" algn="bl" rotWithShape="0" blurRad="152400" dist="25400" dir="5400000">
              <a:srgbClr val="0B1B2B">
                <a:alpha val="13000"/>
              </a:srgbClr>
            </a:outerShdw>
          </a:effectLst>
        </p:spPr>
      </p:sp>
      <p:sp>
        <p:nvSpPr>
          <p:cNvPr id="6" name="Shape 3"/>
          <p:cNvSpPr/>
          <p:nvPr/>
        </p:nvSpPr>
        <p:spPr>
          <a:xfrm>
            <a:off x="8119872" y="1975104"/>
            <a:ext cx="475488" cy="475488"/>
          </a:xfrm>
          <a:prstGeom prst="ellipse">
            <a:avLst/>
          </a:prstGeom>
          <a:solidFill>
            <a:srgbClr val="065A82"/>
          </a:solidFill>
          <a:ln w="12700">
            <a:solidFill>
              <a:srgbClr val="065A82"/>
            </a:solidFill>
            <a:prstDash val="solid"/>
          </a:ln>
        </p:spPr>
      </p:sp>
      <p:sp>
        <p:nvSpPr>
          <p:cNvPr id="7" name="Text 4"/>
          <p:cNvSpPr/>
          <p:nvPr/>
        </p:nvSpPr>
        <p:spPr>
          <a:xfrm>
            <a:off x="8119872" y="197510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5"/>
          <p:cNvSpPr/>
          <p:nvPr/>
        </p:nvSpPr>
        <p:spPr>
          <a:xfrm>
            <a:off x="8119872" y="2578608"/>
            <a:ext cx="3236976" cy="365760"/>
          </a:xfrm>
          <a:prstGeom prst="rect">
            <a:avLst/>
          </a:prstGeom>
          <a:noFill/>
          <a:ln/>
        </p:spPr>
        <p:txBody>
          <a:bodyPr wrap="square" lIns="0" tIns="0" rIns="0" bIns="0" rtlCol="0" anchor="t"/>
          <a:lstStyle/>
          <a:p>
            <a:pPr indent="0" marL="0">
              <a:buNone/>
            </a:pPr>
            <a:r>
              <a:rPr lang="en-US" sz="1600" b="1" dirty="0">
                <a:solidFill>
                  <a:srgbClr val="21295C"/>
                </a:solidFill>
                <a:latin typeface="Calibri" pitchFamily="34" charset="0"/>
                <a:ea typeface="Calibri" pitchFamily="34" charset="-122"/>
                <a:cs typeface="Calibri" pitchFamily="34" charset="-120"/>
              </a:rPr>
              <a:t>Was das im Alltag heißt</a:t>
            </a:r>
            <a:endParaRPr lang="en-US" sz="1600" dirty="0"/>
          </a:p>
        </p:txBody>
      </p:sp>
      <p:sp>
        <p:nvSpPr>
          <p:cNvPr id="9" name="Text 6"/>
          <p:cNvSpPr/>
          <p:nvPr/>
        </p:nvSpPr>
        <p:spPr>
          <a:xfrm>
            <a:off x="8119872" y="2962656"/>
            <a:ext cx="3236976" cy="2596896"/>
          </a:xfrm>
          <a:prstGeom prst="rect">
            <a:avLst/>
          </a:prstGeom>
          <a:noFill/>
          <a:ln/>
        </p:spPr>
        <p:txBody>
          <a:bodyPr wrap="square" lIns="0" tIns="0" rIns="0" bIns="0" rtlCol="0" anchor="t"/>
          <a:lstStyle/>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Rund sechs Wochen im Jahr sind unterrichtsfreie Arbeitszeit – kein Urlaub.</a:t>
            </a:r>
            <a:endParaRPr lang="en-US" sz="1300" dirty="0"/>
          </a:p>
          <a:p>
            <a:pPr indent="0" marL="0">
              <a:lnSpc>
                <a:spcPct val="118000"/>
              </a:lnSpc>
              <a:buNone/>
            </a:pPr>
            <a:endParaRPr lang="en-US" sz="1300" dirty="0"/>
          </a:p>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Wer in diesen Wochen Zeugnisse schreibt, Unterricht plant oder eine Klassenfahrt vorbereitet, leistet regulären Dienst.</a:t>
            </a:r>
            <a:endParaRPr lang="en-US" sz="1300" dirty="0"/>
          </a:p>
          <a:p>
            <a:pPr indent="0" marL="0">
              <a:lnSpc>
                <a:spcPct val="118000"/>
              </a:lnSpc>
              <a:buNone/>
            </a:pPr>
            <a:endParaRPr lang="en-US" sz="1300" dirty="0"/>
          </a:p>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Bisher stand das nirgends. Jetzt schon.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11480"/>
            <a:ext cx="11055096" cy="658368"/>
          </a:xfrm>
          <a:prstGeom prst="rect">
            <a:avLst/>
          </a:prstGeom>
          <a:noFill/>
          <a:ln/>
        </p:spPr>
        <p:txBody>
          <a:bodyPr wrap="square" lIns="0" tIns="0" rIns="0" bIns="0"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Erfassen: drei Wege, damit es nicht lästig wird</a:t>
            </a:r>
            <a:endParaRPr lang="en-US" sz="3400" dirty="0"/>
          </a:p>
        </p:txBody>
      </p:sp>
      <p:sp>
        <p:nvSpPr>
          <p:cNvPr id="3" name="Text 1"/>
          <p:cNvSpPr/>
          <p:nvPr/>
        </p:nvSpPr>
        <p:spPr>
          <a:xfrm>
            <a:off x="566928" y="1078992"/>
            <a:ext cx="11055096" cy="365760"/>
          </a:xfrm>
          <a:prstGeom prst="rect">
            <a:avLst/>
          </a:prstGeom>
          <a:noFill/>
          <a:ln/>
        </p:spPr>
        <p:txBody>
          <a:bodyPr wrap="square" lIns="0" tIns="0" rIns="0" bIns="0" rtlCol="0" anchor="ctr"/>
          <a:lstStyle/>
          <a:p>
            <a:pPr indent="0" marL="0">
              <a:buNone/>
            </a:pPr>
            <a:r>
              <a:rPr lang="en-US" sz="1500" dirty="0">
                <a:solidFill>
                  <a:srgbClr val="5A6B7A"/>
                </a:solidFill>
                <a:latin typeface="Calibri" pitchFamily="34" charset="0"/>
                <a:ea typeface="Calibri" pitchFamily="34" charset="-122"/>
                <a:cs typeface="Calibri" pitchFamily="34" charset="-120"/>
              </a:rPr>
              <a:t>Man muss sich nicht entscheiden – alle drei lassen sich mischen</a:t>
            </a:r>
            <a:endParaRPr lang="en-US" sz="1500" dirty="0"/>
          </a:p>
        </p:txBody>
      </p:sp>
      <p:sp>
        <p:nvSpPr>
          <p:cNvPr id="4" name="Shape 2"/>
          <p:cNvSpPr/>
          <p:nvPr/>
        </p:nvSpPr>
        <p:spPr>
          <a:xfrm>
            <a:off x="566928" y="1828800"/>
            <a:ext cx="3401568" cy="3063240"/>
          </a:xfrm>
          <a:prstGeom prst="roundRect">
            <a:avLst>
              <a:gd name="adj" fmla="val 3582"/>
            </a:avLst>
          </a:prstGeom>
          <a:solidFill>
            <a:srgbClr val="F3F6F8"/>
          </a:solidFill>
          <a:ln w="12700">
            <a:solidFill>
              <a:srgbClr val="E2E9EF"/>
            </a:solidFill>
            <a:prstDash val="solid"/>
          </a:ln>
          <a:effectLst>
            <a:outerShdw sx="100000" sy="100000" kx="0" ky="0" algn="bl" rotWithShape="0" blurRad="152400" dist="25400" dir="5400000">
              <a:srgbClr val="0B1B2B">
                <a:alpha val="13000"/>
              </a:srgbClr>
            </a:outerShdw>
          </a:effectLst>
        </p:spPr>
      </p:sp>
      <p:sp>
        <p:nvSpPr>
          <p:cNvPr id="5" name="Shape 3"/>
          <p:cNvSpPr/>
          <p:nvPr/>
        </p:nvSpPr>
        <p:spPr>
          <a:xfrm>
            <a:off x="822960" y="2066544"/>
            <a:ext cx="475488" cy="475488"/>
          </a:xfrm>
          <a:prstGeom prst="ellipse">
            <a:avLst/>
          </a:prstGeom>
          <a:solidFill>
            <a:srgbClr val="065A82"/>
          </a:solidFill>
          <a:ln w="12700">
            <a:solidFill>
              <a:srgbClr val="065A82"/>
            </a:solidFill>
            <a:prstDash val="solid"/>
          </a:ln>
        </p:spPr>
      </p:sp>
      <p:sp>
        <p:nvSpPr>
          <p:cNvPr id="6" name="Text 4"/>
          <p:cNvSpPr/>
          <p:nvPr/>
        </p:nvSpPr>
        <p:spPr>
          <a:xfrm>
            <a:off x="822960" y="206654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822960" y="2670048"/>
            <a:ext cx="2889504" cy="365760"/>
          </a:xfrm>
          <a:prstGeom prst="rect">
            <a:avLst/>
          </a:prstGeom>
          <a:noFill/>
          <a:ln/>
        </p:spPr>
        <p:txBody>
          <a:bodyPr wrap="square" lIns="0" tIns="0" rIns="0" bIns="0" rtlCol="0" anchor="t"/>
          <a:lstStyle/>
          <a:p>
            <a:pPr indent="0" marL="0">
              <a:buNone/>
            </a:pPr>
            <a:r>
              <a:rPr lang="en-US" sz="1600" b="1" dirty="0">
                <a:solidFill>
                  <a:srgbClr val="21295C"/>
                </a:solidFill>
                <a:latin typeface="Calibri" pitchFamily="34" charset="0"/>
                <a:ea typeface="Calibri" pitchFamily="34" charset="-122"/>
                <a:cs typeface="Calibri" pitchFamily="34" charset="-120"/>
              </a:rPr>
              <a:t>Stundenplan-Klick</a:t>
            </a:r>
            <a:endParaRPr lang="en-US" sz="1600" dirty="0"/>
          </a:p>
        </p:txBody>
      </p:sp>
      <p:sp>
        <p:nvSpPr>
          <p:cNvPr id="8" name="Text 6"/>
          <p:cNvSpPr/>
          <p:nvPr/>
        </p:nvSpPr>
        <p:spPr>
          <a:xfrm>
            <a:off x="822960" y="3054096"/>
            <a:ext cx="2889504" cy="1728216"/>
          </a:xfrm>
          <a:prstGeom prst="rect">
            <a:avLst/>
          </a:prstGeom>
          <a:noFill/>
          <a:ln/>
        </p:spPr>
        <p:txBody>
          <a:bodyPr wrap="square" lIns="0" tIns="0" rIns="0" bIns="0" rtlCol="0" anchor="t"/>
          <a:lstStyle/>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Der Stundenplan wird einmal hinterlegt. Danach bucht ein Tipp den gesamten Unterricht eines Tages.</a:t>
            </a:r>
            <a:endParaRPr lang="en-US" sz="1300" dirty="0"/>
          </a:p>
          <a:p>
            <a:pPr indent="0" marL="0">
              <a:lnSpc>
                <a:spcPct val="118000"/>
              </a:lnSpc>
              <a:buNone/>
            </a:pPr>
            <a:endParaRPr lang="en-US" sz="1300" dirty="0"/>
          </a:p>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Aufwand: zwei Sekunden.</a:t>
            </a:r>
            <a:endParaRPr lang="en-US" sz="1300" dirty="0"/>
          </a:p>
        </p:txBody>
      </p:sp>
      <p:sp>
        <p:nvSpPr>
          <p:cNvPr id="9" name="Shape 7"/>
          <p:cNvSpPr/>
          <p:nvPr/>
        </p:nvSpPr>
        <p:spPr>
          <a:xfrm>
            <a:off x="4206240" y="1828800"/>
            <a:ext cx="3401568" cy="3063240"/>
          </a:xfrm>
          <a:prstGeom prst="roundRect">
            <a:avLst>
              <a:gd name="adj" fmla="val 3582"/>
            </a:avLst>
          </a:prstGeom>
          <a:solidFill>
            <a:srgbClr val="F3F6F8"/>
          </a:solidFill>
          <a:ln w="12700">
            <a:solidFill>
              <a:srgbClr val="E2E9EF"/>
            </a:solidFill>
            <a:prstDash val="solid"/>
          </a:ln>
          <a:effectLst>
            <a:outerShdw sx="100000" sy="100000" kx="0" ky="0" algn="bl" rotWithShape="0" blurRad="152400" dist="25400" dir="5400000">
              <a:srgbClr val="0B1B2B">
                <a:alpha val="13000"/>
              </a:srgbClr>
            </a:outerShdw>
          </a:effectLst>
        </p:spPr>
      </p:sp>
      <p:sp>
        <p:nvSpPr>
          <p:cNvPr id="10" name="Shape 8"/>
          <p:cNvSpPr/>
          <p:nvPr/>
        </p:nvSpPr>
        <p:spPr>
          <a:xfrm>
            <a:off x="4462272" y="2066544"/>
            <a:ext cx="475488" cy="475488"/>
          </a:xfrm>
          <a:prstGeom prst="ellipse">
            <a:avLst/>
          </a:prstGeom>
          <a:solidFill>
            <a:srgbClr val="065A82"/>
          </a:solidFill>
          <a:ln w="12700">
            <a:solidFill>
              <a:srgbClr val="065A82"/>
            </a:solidFill>
            <a:prstDash val="solid"/>
          </a:ln>
        </p:spPr>
      </p:sp>
      <p:sp>
        <p:nvSpPr>
          <p:cNvPr id="11" name="Text 9"/>
          <p:cNvSpPr/>
          <p:nvPr/>
        </p:nvSpPr>
        <p:spPr>
          <a:xfrm>
            <a:off x="4462272" y="206654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4462272" y="2670048"/>
            <a:ext cx="2889504" cy="365760"/>
          </a:xfrm>
          <a:prstGeom prst="rect">
            <a:avLst/>
          </a:prstGeom>
          <a:noFill/>
          <a:ln/>
        </p:spPr>
        <p:txBody>
          <a:bodyPr wrap="square" lIns="0" tIns="0" rIns="0" bIns="0" rtlCol="0" anchor="t"/>
          <a:lstStyle/>
          <a:p>
            <a:pPr indent="0" marL="0">
              <a:buNone/>
            </a:pPr>
            <a:r>
              <a:rPr lang="en-US" sz="1600" b="1" dirty="0">
                <a:solidFill>
                  <a:srgbClr val="21295C"/>
                </a:solidFill>
                <a:latin typeface="Calibri" pitchFamily="34" charset="0"/>
                <a:ea typeface="Calibri" pitchFamily="34" charset="-122"/>
                <a:cs typeface="Calibri" pitchFamily="34" charset="-120"/>
              </a:rPr>
              <a:t>Timer</a:t>
            </a:r>
            <a:endParaRPr lang="en-US" sz="1600" dirty="0"/>
          </a:p>
        </p:txBody>
      </p:sp>
      <p:sp>
        <p:nvSpPr>
          <p:cNvPr id="13" name="Text 11"/>
          <p:cNvSpPr/>
          <p:nvPr/>
        </p:nvSpPr>
        <p:spPr>
          <a:xfrm>
            <a:off x="4462272" y="3054096"/>
            <a:ext cx="2889504" cy="1728216"/>
          </a:xfrm>
          <a:prstGeom prst="rect">
            <a:avLst/>
          </a:prstGeom>
          <a:noFill/>
          <a:ln/>
        </p:spPr>
        <p:txBody>
          <a:bodyPr wrap="square" lIns="0" tIns="0" rIns="0" bIns="0" rtlCol="0" anchor="t"/>
          <a:lstStyle/>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Für alles am Schreibtisch: starten, arbeiten, stoppen. Läuft weiter, auch wenn die App geschlossen wird.</a:t>
            </a:r>
            <a:endParaRPr lang="en-US" sz="1300" dirty="0"/>
          </a:p>
          <a:p>
            <a:pPr indent="0" marL="0">
              <a:lnSpc>
                <a:spcPct val="118000"/>
              </a:lnSpc>
              <a:buNone/>
            </a:pPr>
            <a:endParaRPr lang="en-US" sz="1300" dirty="0"/>
          </a:p>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Ideal für Korrekturblöcke.</a:t>
            </a:r>
            <a:endParaRPr lang="en-US" sz="1300" dirty="0"/>
          </a:p>
        </p:txBody>
      </p:sp>
      <p:sp>
        <p:nvSpPr>
          <p:cNvPr id="14" name="Shape 12"/>
          <p:cNvSpPr/>
          <p:nvPr/>
        </p:nvSpPr>
        <p:spPr>
          <a:xfrm>
            <a:off x="7845552" y="1828800"/>
            <a:ext cx="3401568" cy="3063240"/>
          </a:xfrm>
          <a:prstGeom prst="roundRect">
            <a:avLst>
              <a:gd name="adj" fmla="val 3582"/>
            </a:avLst>
          </a:prstGeom>
          <a:solidFill>
            <a:srgbClr val="F3F6F8"/>
          </a:solidFill>
          <a:ln w="12700">
            <a:solidFill>
              <a:srgbClr val="E2E9EF"/>
            </a:solidFill>
            <a:prstDash val="solid"/>
          </a:ln>
          <a:effectLst>
            <a:outerShdw sx="100000" sy="100000" kx="0" ky="0" algn="bl" rotWithShape="0" blurRad="152400" dist="25400" dir="5400000">
              <a:srgbClr val="0B1B2B">
                <a:alpha val="13000"/>
              </a:srgbClr>
            </a:outerShdw>
          </a:effectLst>
        </p:spPr>
      </p:sp>
      <p:sp>
        <p:nvSpPr>
          <p:cNvPr id="15" name="Shape 13"/>
          <p:cNvSpPr/>
          <p:nvPr/>
        </p:nvSpPr>
        <p:spPr>
          <a:xfrm>
            <a:off x="8101584" y="2066544"/>
            <a:ext cx="475488" cy="475488"/>
          </a:xfrm>
          <a:prstGeom prst="ellipse">
            <a:avLst/>
          </a:prstGeom>
          <a:solidFill>
            <a:srgbClr val="065A82"/>
          </a:solidFill>
          <a:ln w="12700">
            <a:solidFill>
              <a:srgbClr val="065A82"/>
            </a:solidFill>
            <a:prstDash val="solid"/>
          </a:ln>
        </p:spPr>
      </p:sp>
      <p:sp>
        <p:nvSpPr>
          <p:cNvPr id="16" name="Text 14"/>
          <p:cNvSpPr/>
          <p:nvPr/>
        </p:nvSpPr>
        <p:spPr>
          <a:xfrm>
            <a:off x="8101584" y="206654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8101584" y="2670048"/>
            <a:ext cx="2889504" cy="365760"/>
          </a:xfrm>
          <a:prstGeom prst="rect">
            <a:avLst/>
          </a:prstGeom>
          <a:noFill/>
          <a:ln/>
        </p:spPr>
        <p:txBody>
          <a:bodyPr wrap="square" lIns="0" tIns="0" rIns="0" bIns="0" rtlCol="0" anchor="t"/>
          <a:lstStyle/>
          <a:p>
            <a:pPr indent="0" marL="0">
              <a:buNone/>
            </a:pPr>
            <a:r>
              <a:rPr lang="en-US" sz="1600" b="1" dirty="0">
                <a:solidFill>
                  <a:srgbClr val="21295C"/>
                </a:solidFill>
                <a:latin typeface="Calibri" pitchFamily="34" charset="0"/>
                <a:ea typeface="Calibri" pitchFamily="34" charset="-122"/>
                <a:cs typeface="Calibri" pitchFamily="34" charset="-120"/>
              </a:rPr>
              <a:t>Nachtragen</a:t>
            </a:r>
            <a:endParaRPr lang="en-US" sz="1600" dirty="0"/>
          </a:p>
        </p:txBody>
      </p:sp>
      <p:sp>
        <p:nvSpPr>
          <p:cNvPr id="18" name="Text 16"/>
          <p:cNvSpPr/>
          <p:nvPr/>
        </p:nvSpPr>
        <p:spPr>
          <a:xfrm>
            <a:off x="8101584" y="3054096"/>
            <a:ext cx="2889504" cy="1728216"/>
          </a:xfrm>
          <a:prstGeom prst="rect">
            <a:avLst/>
          </a:prstGeom>
          <a:noFill/>
          <a:ln/>
        </p:spPr>
        <p:txBody>
          <a:bodyPr wrap="square" lIns="0" tIns="0" rIns="0" bIns="0" rtlCol="0" anchor="t"/>
          <a:lstStyle/>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Schnellknöpfe für +30 min oder +1 h – oder freitags die ganze Woche in einer Tabelle nachpflegen.</a:t>
            </a:r>
            <a:endParaRPr lang="en-US" sz="1300" dirty="0"/>
          </a:p>
          <a:p>
            <a:pPr indent="0" marL="0">
              <a:lnSpc>
                <a:spcPct val="118000"/>
              </a:lnSpc>
              <a:buNone/>
            </a:pPr>
            <a:endParaRPr lang="en-US" sz="1300" dirty="0"/>
          </a:p>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Aufwand: fünf Minuten pro Woche.</a:t>
            </a:r>
            <a:endParaRPr lang="en-US" sz="1300" dirty="0"/>
          </a:p>
        </p:txBody>
      </p:sp>
      <p:sp>
        <p:nvSpPr>
          <p:cNvPr id="19" name="Text 17"/>
          <p:cNvSpPr/>
          <p:nvPr/>
        </p:nvSpPr>
        <p:spPr>
          <a:xfrm>
            <a:off x="566928" y="5212080"/>
            <a:ext cx="10607040" cy="731520"/>
          </a:xfrm>
          <a:prstGeom prst="rect">
            <a:avLst/>
          </a:prstGeom>
          <a:noFill/>
          <a:ln/>
        </p:spPr>
        <p:txBody>
          <a:bodyPr wrap="square" lIns="0" tIns="0" rIns="0" bIns="0" rtlCol="0" anchor="ctr"/>
          <a:lstStyle/>
          <a:p>
            <a:pPr indent="0" marL="0">
              <a:lnSpc>
                <a:spcPct val="120000"/>
              </a:lnSpc>
              <a:buNone/>
            </a:pPr>
            <a:r>
              <a:rPr lang="en-US" sz="1700" i="1" dirty="0">
                <a:solidFill>
                  <a:srgbClr val="065A82"/>
                </a:solidFill>
                <a:latin typeface="Cambria" pitchFamily="34" charset="0"/>
                <a:ea typeface="Cambria" pitchFamily="34" charset="-122"/>
                <a:cs typeface="Cambria" pitchFamily="34" charset="-120"/>
              </a:rPr>
              <a:t>Eine Schätzung, die es in die Dokumentation schafft, ist mehr wert als eine sekundengenaue Messung, die nach zwei Wochen aufgegeben wird.</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11480"/>
            <a:ext cx="11055096" cy="658368"/>
          </a:xfrm>
          <a:prstGeom prst="rect">
            <a:avLst/>
          </a:prstGeom>
          <a:noFill/>
          <a:ln/>
        </p:spPr>
        <p:txBody>
          <a:bodyPr wrap="square" lIns="0" tIns="0" rIns="0" bIns="0"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Neun Kategorien</a:t>
            </a:r>
            <a:endParaRPr lang="en-US" sz="3400" dirty="0"/>
          </a:p>
        </p:txBody>
      </p:sp>
      <p:sp>
        <p:nvSpPr>
          <p:cNvPr id="3" name="Text 1"/>
          <p:cNvSpPr/>
          <p:nvPr/>
        </p:nvSpPr>
        <p:spPr>
          <a:xfrm>
            <a:off x="566928" y="1078992"/>
            <a:ext cx="11055096" cy="365760"/>
          </a:xfrm>
          <a:prstGeom prst="rect">
            <a:avLst/>
          </a:prstGeom>
          <a:noFill/>
          <a:ln/>
        </p:spPr>
        <p:txBody>
          <a:bodyPr wrap="square" lIns="0" tIns="0" rIns="0" bIns="0" rtlCol="0" anchor="ctr"/>
          <a:lstStyle/>
          <a:p>
            <a:pPr indent="0" marL="0">
              <a:buNone/>
            </a:pPr>
            <a:r>
              <a:rPr lang="en-US" sz="1500" dirty="0">
                <a:solidFill>
                  <a:srgbClr val="5A6B7A"/>
                </a:solidFill>
                <a:latin typeface="Calibri" pitchFamily="34" charset="0"/>
                <a:ea typeface="Calibri" pitchFamily="34" charset="-122"/>
                <a:cs typeface="Calibri" pitchFamily="34" charset="-120"/>
              </a:rPr>
              <a:t>Nach der Systematik, die die Rechtsprechung zur Lehrkraft-Arbeitszeit zugrunde legt</a:t>
            </a:r>
            <a:endParaRPr lang="en-US" sz="1500" dirty="0"/>
          </a:p>
        </p:txBody>
      </p:sp>
      <p:sp>
        <p:nvSpPr>
          <p:cNvPr id="4" name="Shape 2"/>
          <p:cNvSpPr/>
          <p:nvPr/>
        </p:nvSpPr>
        <p:spPr>
          <a:xfrm>
            <a:off x="566928" y="1828800"/>
            <a:ext cx="3456432" cy="1115568"/>
          </a:xfrm>
          <a:prstGeom prst="roundRect">
            <a:avLst>
              <a:gd name="adj" fmla="val 8197"/>
            </a:avLst>
          </a:prstGeom>
          <a:solidFill>
            <a:srgbClr val="F3F6F8"/>
          </a:solidFill>
          <a:ln w="12700">
            <a:solidFill>
              <a:srgbClr val="E2E9EF"/>
            </a:solidFill>
            <a:prstDash val="solid"/>
          </a:ln>
        </p:spPr>
      </p:sp>
      <p:sp>
        <p:nvSpPr>
          <p:cNvPr id="5" name="Shape 3"/>
          <p:cNvSpPr/>
          <p:nvPr/>
        </p:nvSpPr>
        <p:spPr>
          <a:xfrm>
            <a:off x="768096" y="2130552"/>
            <a:ext cx="384048" cy="384048"/>
          </a:xfrm>
          <a:prstGeom prst="ellipse">
            <a:avLst/>
          </a:prstGeom>
          <a:solidFill>
            <a:srgbClr val="065A82"/>
          </a:solidFill>
          <a:ln w="12700">
            <a:solidFill>
              <a:srgbClr val="FFFFFF"/>
            </a:solidFill>
            <a:prstDash val="solid"/>
          </a:ln>
        </p:spPr>
      </p:sp>
      <p:sp>
        <p:nvSpPr>
          <p:cNvPr id="6" name="Text 4"/>
          <p:cNvSpPr/>
          <p:nvPr/>
        </p:nvSpPr>
        <p:spPr>
          <a:xfrm>
            <a:off x="768096" y="21305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61872" y="2029968"/>
            <a:ext cx="2606040" cy="438912"/>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Unterricht</a:t>
            </a:r>
            <a:endParaRPr lang="en-US" sz="1300" dirty="0"/>
          </a:p>
        </p:txBody>
      </p:sp>
      <p:sp>
        <p:nvSpPr>
          <p:cNvPr id="8" name="Text 6"/>
          <p:cNvSpPr/>
          <p:nvPr/>
        </p:nvSpPr>
        <p:spPr>
          <a:xfrm>
            <a:off x="1261872" y="2432304"/>
            <a:ext cx="2606040" cy="347472"/>
          </a:xfrm>
          <a:prstGeom prst="rect">
            <a:avLst/>
          </a:prstGeom>
          <a:noFill/>
          <a:ln/>
        </p:spPr>
        <p:txBody>
          <a:bodyPr wrap="square" lIns="0" tIns="0" rIns="0" bIns="0" rtlCol="0" anchor="t"/>
          <a:lstStyle/>
          <a:p>
            <a:pPr indent="0" marL="0">
              <a:buNone/>
            </a:pPr>
            <a:r>
              <a:rPr lang="en-US" sz="1050" dirty="0">
                <a:solidFill>
                  <a:srgbClr val="5A6B7A"/>
                </a:solidFill>
                <a:latin typeface="Calibri" pitchFamily="34" charset="0"/>
                <a:ea typeface="Calibri" pitchFamily="34" charset="-122"/>
                <a:cs typeface="Calibri" pitchFamily="34" charset="-120"/>
              </a:rPr>
              <a:t>auch Vertretung und Doppelsteckung</a:t>
            </a:r>
            <a:endParaRPr lang="en-US" sz="1050" dirty="0"/>
          </a:p>
        </p:txBody>
      </p:sp>
      <p:sp>
        <p:nvSpPr>
          <p:cNvPr id="9" name="Shape 7"/>
          <p:cNvSpPr/>
          <p:nvPr/>
        </p:nvSpPr>
        <p:spPr>
          <a:xfrm>
            <a:off x="4261104" y="1828800"/>
            <a:ext cx="3456432" cy="1115568"/>
          </a:xfrm>
          <a:prstGeom prst="roundRect">
            <a:avLst>
              <a:gd name="adj" fmla="val 8197"/>
            </a:avLst>
          </a:prstGeom>
          <a:solidFill>
            <a:srgbClr val="F3F6F8"/>
          </a:solidFill>
          <a:ln w="12700">
            <a:solidFill>
              <a:srgbClr val="E2E9EF"/>
            </a:solidFill>
            <a:prstDash val="solid"/>
          </a:ln>
        </p:spPr>
      </p:sp>
      <p:sp>
        <p:nvSpPr>
          <p:cNvPr id="10" name="Shape 8"/>
          <p:cNvSpPr/>
          <p:nvPr/>
        </p:nvSpPr>
        <p:spPr>
          <a:xfrm>
            <a:off x="4462272" y="2130552"/>
            <a:ext cx="384048" cy="384048"/>
          </a:xfrm>
          <a:prstGeom prst="ellipse">
            <a:avLst/>
          </a:prstGeom>
          <a:solidFill>
            <a:srgbClr val="065A82"/>
          </a:solidFill>
          <a:ln w="12700">
            <a:solidFill>
              <a:srgbClr val="FFFFFF"/>
            </a:solidFill>
            <a:prstDash val="solid"/>
          </a:ln>
        </p:spPr>
      </p:sp>
      <p:sp>
        <p:nvSpPr>
          <p:cNvPr id="11" name="Text 9"/>
          <p:cNvSpPr/>
          <p:nvPr/>
        </p:nvSpPr>
        <p:spPr>
          <a:xfrm>
            <a:off x="4462272" y="21305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4956048" y="2029968"/>
            <a:ext cx="2606040" cy="438912"/>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Vor- und Nachbereitung</a:t>
            </a:r>
            <a:endParaRPr lang="en-US" sz="1300" dirty="0"/>
          </a:p>
        </p:txBody>
      </p:sp>
      <p:sp>
        <p:nvSpPr>
          <p:cNvPr id="13" name="Text 11"/>
          <p:cNvSpPr/>
          <p:nvPr/>
        </p:nvSpPr>
        <p:spPr>
          <a:xfrm>
            <a:off x="4956048" y="2432304"/>
            <a:ext cx="2606040" cy="347472"/>
          </a:xfrm>
          <a:prstGeom prst="rect">
            <a:avLst/>
          </a:prstGeom>
          <a:noFill/>
          <a:ln/>
        </p:spPr>
        <p:txBody>
          <a:bodyPr wrap="square" lIns="0" tIns="0" rIns="0" bIns="0" rtlCol="0" anchor="t"/>
          <a:lstStyle/>
          <a:p>
            <a:pPr indent="0" marL="0">
              <a:buNone/>
            </a:pPr>
            <a:r>
              <a:rPr lang="en-US" sz="1050" dirty="0">
                <a:solidFill>
                  <a:srgbClr val="5A6B7A"/>
                </a:solidFill>
                <a:latin typeface="Calibri" pitchFamily="34" charset="0"/>
                <a:ea typeface="Calibri" pitchFamily="34" charset="-122"/>
                <a:cs typeface="Calibri" pitchFamily="34" charset="-120"/>
              </a:rPr>
              <a:t>Planung, Material, Differenzierung</a:t>
            </a:r>
            <a:endParaRPr lang="en-US" sz="1050" dirty="0"/>
          </a:p>
        </p:txBody>
      </p:sp>
      <p:sp>
        <p:nvSpPr>
          <p:cNvPr id="14" name="Shape 12"/>
          <p:cNvSpPr/>
          <p:nvPr/>
        </p:nvSpPr>
        <p:spPr>
          <a:xfrm>
            <a:off x="7955280" y="1828800"/>
            <a:ext cx="3456432" cy="1115568"/>
          </a:xfrm>
          <a:prstGeom prst="roundRect">
            <a:avLst>
              <a:gd name="adj" fmla="val 8197"/>
            </a:avLst>
          </a:prstGeom>
          <a:solidFill>
            <a:srgbClr val="F3F6F8"/>
          </a:solidFill>
          <a:ln w="12700">
            <a:solidFill>
              <a:srgbClr val="E2E9EF"/>
            </a:solidFill>
            <a:prstDash val="solid"/>
          </a:ln>
        </p:spPr>
      </p:sp>
      <p:sp>
        <p:nvSpPr>
          <p:cNvPr id="15" name="Shape 13"/>
          <p:cNvSpPr/>
          <p:nvPr/>
        </p:nvSpPr>
        <p:spPr>
          <a:xfrm>
            <a:off x="8156448" y="2130552"/>
            <a:ext cx="384048" cy="384048"/>
          </a:xfrm>
          <a:prstGeom prst="ellipse">
            <a:avLst/>
          </a:prstGeom>
          <a:solidFill>
            <a:srgbClr val="065A82"/>
          </a:solidFill>
          <a:ln w="12700">
            <a:solidFill>
              <a:srgbClr val="FFFFFF"/>
            </a:solidFill>
            <a:prstDash val="solid"/>
          </a:ln>
        </p:spPr>
      </p:sp>
      <p:sp>
        <p:nvSpPr>
          <p:cNvPr id="16" name="Text 14"/>
          <p:cNvSpPr/>
          <p:nvPr/>
        </p:nvSpPr>
        <p:spPr>
          <a:xfrm>
            <a:off x="8156448" y="21305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8650224" y="2029968"/>
            <a:ext cx="2606040" cy="438912"/>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Korrekturen</a:t>
            </a:r>
            <a:endParaRPr lang="en-US" sz="1300" dirty="0"/>
          </a:p>
        </p:txBody>
      </p:sp>
      <p:sp>
        <p:nvSpPr>
          <p:cNvPr id="18" name="Text 16"/>
          <p:cNvSpPr/>
          <p:nvPr/>
        </p:nvSpPr>
        <p:spPr>
          <a:xfrm>
            <a:off x="8650224" y="2432304"/>
            <a:ext cx="2606040" cy="347472"/>
          </a:xfrm>
          <a:prstGeom prst="rect">
            <a:avLst/>
          </a:prstGeom>
          <a:noFill/>
          <a:ln/>
        </p:spPr>
        <p:txBody>
          <a:bodyPr wrap="square" lIns="0" tIns="0" rIns="0" bIns="0" rtlCol="0" anchor="t"/>
          <a:lstStyle/>
          <a:p>
            <a:pPr indent="0" marL="0">
              <a:buNone/>
            </a:pPr>
            <a:r>
              <a:rPr lang="en-US" sz="1050" dirty="0">
                <a:solidFill>
                  <a:srgbClr val="5A6B7A"/>
                </a:solidFill>
                <a:latin typeface="Calibri" pitchFamily="34" charset="0"/>
                <a:ea typeface="Calibri" pitchFamily="34" charset="-122"/>
                <a:cs typeface="Calibri" pitchFamily="34" charset="-120"/>
              </a:rPr>
              <a:t>Arbeiten, Zeugnisse, Gutachten</a:t>
            </a:r>
            <a:endParaRPr lang="en-US" sz="1050" dirty="0"/>
          </a:p>
        </p:txBody>
      </p:sp>
      <p:sp>
        <p:nvSpPr>
          <p:cNvPr id="19" name="Shape 17"/>
          <p:cNvSpPr/>
          <p:nvPr/>
        </p:nvSpPr>
        <p:spPr>
          <a:xfrm>
            <a:off x="566928" y="3127248"/>
            <a:ext cx="3456432" cy="1115568"/>
          </a:xfrm>
          <a:prstGeom prst="roundRect">
            <a:avLst>
              <a:gd name="adj" fmla="val 8197"/>
            </a:avLst>
          </a:prstGeom>
          <a:solidFill>
            <a:srgbClr val="F3F6F8"/>
          </a:solidFill>
          <a:ln w="12700">
            <a:solidFill>
              <a:srgbClr val="E2E9EF"/>
            </a:solidFill>
            <a:prstDash val="solid"/>
          </a:ln>
        </p:spPr>
      </p:sp>
      <p:sp>
        <p:nvSpPr>
          <p:cNvPr id="20" name="Shape 18"/>
          <p:cNvSpPr/>
          <p:nvPr/>
        </p:nvSpPr>
        <p:spPr>
          <a:xfrm>
            <a:off x="768096" y="3429000"/>
            <a:ext cx="384048" cy="384048"/>
          </a:xfrm>
          <a:prstGeom prst="ellipse">
            <a:avLst/>
          </a:prstGeom>
          <a:solidFill>
            <a:srgbClr val="065A82"/>
          </a:solidFill>
          <a:ln w="12700">
            <a:solidFill>
              <a:srgbClr val="FFFFFF"/>
            </a:solidFill>
            <a:prstDash val="solid"/>
          </a:ln>
        </p:spPr>
      </p:sp>
      <p:sp>
        <p:nvSpPr>
          <p:cNvPr id="21" name="Text 19"/>
          <p:cNvSpPr/>
          <p:nvPr/>
        </p:nvSpPr>
        <p:spPr>
          <a:xfrm>
            <a:off x="768096" y="34290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1261872" y="3328416"/>
            <a:ext cx="2606040" cy="438912"/>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Kommunikation</a:t>
            </a:r>
            <a:endParaRPr lang="en-US" sz="1300" dirty="0"/>
          </a:p>
        </p:txBody>
      </p:sp>
      <p:sp>
        <p:nvSpPr>
          <p:cNvPr id="23" name="Text 21"/>
          <p:cNvSpPr/>
          <p:nvPr/>
        </p:nvSpPr>
        <p:spPr>
          <a:xfrm>
            <a:off x="1261872" y="3730752"/>
            <a:ext cx="2606040" cy="347472"/>
          </a:xfrm>
          <a:prstGeom prst="rect">
            <a:avLst/>
          </a:prstGeom>
          <a:noFill/>
          <a:ln/>
        </p:spPr>
        <p:txBody>
          <a:bodyPr wrap="square" lIns="0" tIns="0" rIns="0" bIns="0" rtlCol="0" anchor="t"/>
          <a:lstStyle/>
          <a:p>
            <a:pPr indent="0" marL="0">
              <a:buNone/>
            </a:pPr>
            <a:r>
              <a:rPr lang="en-US" sz="1050" dirty="0">
                <a:solidFill>
                  <a:srgbClr val="5A6B7A"/>
                </a:solidFill>
                <a:latin typeface="Calibri" pitchFamily="34" charset="0"/>
                <a:ea typeface="Calibri" pitchFamily="34" charset="-122"/>
                <a:cs typeface="Calibri" pitchFamily="34" charset="-120"/>
              </a:rPr>
              <a:t>Eltern, Schüler, Kollegium, Ämter</a:t>
            </a:r>
            <a:endParaRPr lang="en-US" sz="1050" dirty="0"/>
          </a:p>
        </p:txBody>
      </p:sp>
      <p:sp>
        <p:nvSpPr>
          <p:cNvPr id="24" name="Shape 22"/>
          <p:cNvSpPr/>
          <p:nvPr/>
        </p:nvSpPr>
        <p:spPr>
          <a:xfrm>
            <a:off x="4261104" y="3127248"/>
            <a:ext cx="3456432" cy="1115568"/>
          </a:xfrm>
          <a:prstGeom prst="roundRect">
            <a:avLst>
              <a:gd name="adj" fmla="val 8197"/>
            </a:avLst>
          </a:prstGeom>
          <a:solidFill>
            <a:srgbClr val="F3F6F8"/>
          </a:solidFill>
          <a:ln w="12700">
            <a:solidFill>
              <a:srgbClr val="E2E9EF"/>
            </a:solidFill>
            <a:prstDash val="solid"/>
          </a:ln>
        </p:spPr>
      </p:sp>
      <p:sp>
        <p:nvSpPr>
          <p:cNvPr id="25" name="Shape 23"/>
          <p:cNvSpPr/>
          <p:nvPr/>
        </p:nvSpPr>
        <p:spPr>
          <a:xfrm>
            <a:off x="4462272" y="3429000"/>
            <a:ext cx="384048" cy="384048"/>
          </a:xfrm>
          <a:prstGeom prst="ellipse">
            <a:avLst/>
          </a:prstGeom>
          <a:solidFill>
            <a:srgbClr val="065A82"/>
          </a:solidFill>
          <a:ln w="12700">
            <a:solidFill>
              <a:srgbClr val="FFFFFF"/>
            </a:solidFill>
            <a:prstDash val="solid"/>
          </a:ln>
        </p:spPr>
      </p:sp>
      <p:sp>
        <p:nvSpPr>
          <p:cNvPr id="26" name="Text 24"/>
          <p:cNvSpPr/>
          <p:nvPr/>
        </p:nvSpPr>
        <p:spPr>
          <a:xfrm>
            <a:off x="4462272" y="34290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4956048" y="3328416"/>
            <a:ext cx="2606040" cy="438912"/>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Konferenzen &amp; Organisation</a:t>
            </a:r>
            <a:endParaRPr lang="en-US" sz="1300" dirty="0"/>
          </a:p>
        </p:txBody>
      </p:sp>
      <p:sp>
        <p:nvSpPr>
          <p:cNvPr id="28" name="Text 26"/>
          <p:cNvSpPr/>
          <p:nvPr/>
        </p:nvSpPr>
        <p:spPr>
          <a:xfrm>
            <a:off x="4956048" y="3730752"/>
            <a:ext cx="2606040" cy="347472"/>
          </a:xfrm>
          <a:prstGeom prst="rect">
            <a:avLst/>
          </a:prstGeom>
          <a:noFill/>
          <a:ln/>
        </p:spPr>
        <p:txBody>
          <a:bodyPr wrap="square" lIns="0" tIns="0" rIns="0" bIns="0" rtlCol="0" anchor="t"/>
          <a:lstStyle/>
          <a:p>
            <a:pPr indent="0" marL="0">
              <a:buNone/>
            </a:pPr>
            <a:r>
              <a:rPr lang="en-US" sz="1050" dirty="0">
                <a:solidFill>
                  <a:srgbClr val="5A6B7A"/>
                </a:solidFill>
                <a:latin typeface="Calibri" pitchFamily="34" charset="0"/>
                <a:ea typeface="Calibri" pitchFamily="34" charset="-122"/>
                <a:cs typeface="Calibri" pitchFamily="34" charset="-120"/>
              </a:rPr>
              <a:t>Sitzungen, Dokumentation, Verwaltung</a:t>
            </a:r>
            <a:endParaRPr lang="en-US" sz="1050" dirty="0"/>
          </a:p>
        </p:txBody>
      </p:sp>
      <p:sp>
        <p:nvSpPr>
          <p:cNvPr id="29" name="Shape 27"/>
          <p:cNvSpPr/>
          <p:nvPr/>
        </p:nvSpPr>
        <p:spPr>
          <a:xfrm>
            <a:off x="7955280" y="3127248"/>
            <a:ext cx="3456432" cy="1115568"/>
          </a:xfrm>
          <a:prstGeom prst="roundRect">
            <a:avLst>
              <a:gd name="adj" fmla="val 8197"/>
            </a:avLst>
          </a:prstGeom>
          <a:solidFill>
            <a:srgbClr val="F3F6F8"/>
          </a:solidFill>
          <a:ln w="12700">
            <a:solidFill>
              <a:srgbClr val="E2E9EF"/>
            </a:solidFill>
            <a:prstDash val="solid"/>
          </a:ln>
        </p:spPr>
      </p:sp>
      <p:sp>
        <p:nvSpPr>
          <p:cNvPr id="30" name="Shape 28"/>
          <p:cNvSpPr/>
          <p:nvPr/>
        </p:nvSpPr>
        <p:spPr>
          <a:xfrm>
            <a:off x="8156448" y="3429000"/>
            <a:ext cx="384048" cy="384048"/>
          </a:xfrm>
          <a:prstGeom prst="ellipse">
            <a:avLst/>
          </a:prstGeom>
          <a:solidFill>
            <a:srgbClr val="C05621"/>
          </a:solidFill>
          <a:ln w="12700">
            <a:solidFill>
              <a:srgbClr val="FFFFFF"/>
            </a:solidFill>
            <a:prstDash val="solid"/>
          </a:ln>
        </p:spPr>
      </p:sp>
      <p:sp>
        <p:nvSpPr>
          <p:cNvPr id="31" name="Text 29"/>
          <p:cNvSpPr/>
          <p:nvPr/>
        </p:nvSpPr>
        <p:spPr>
          <a:xfrm>
            <a:off x="8156448" y="34290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p:nvPr/>
        </p:nvSpPr>
        <p:spPr>
          <a:xfrm>
            <a:off x="8650224" y="3328416"/>
            <a:ext cx="2606040" cy="438912"/>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Aufsicht &amp; Vertretungsbereitschaft</a:t>
            </a:r>
            <a:endParaRPr lang="en-US" sz="1300" dirty="0"/>
          </a:p>
        </p:txBody>
      </p:sp>
      <p:sp>
        <p:nvSpPr>
          <p:cNvPr id="33" name="Text 31"/>
          <p:cNvSpPr/>
          <p:nvPr/>
        </p:nvSpPr>
        <p:spPr>
          <a:xfrm>
            <a:off x="8650224" y="3730752"/>
            <a:ext cx="2606040" cy="347472"/>
          </a:xfrm>
          <a:prstGeom prst="rect">
            <a:avLst/>
          </a:prstGeom>
          <a:noFill/>
          <a:ln/>
        </p:spPr>
        <p:txBody>
          <a:bodyPr wrap="square" lIns="0" tIns="0" rIns="0" bIns="0" rtlCol="0" anchor="t"/>
          <a:lstStyle/>
          <a:p>
            <a:pPr indent="0" marL="0">
              <a:buNone/>
            </a:pPr>
            <a:r>
              <a:rPr lang="en-US" sz="1050" dirty="0">
                <a:solidFill>
                  <a:srgbClr val="5A6B7A"/>
                </a:solidFill>
                <a:latin typeface="Calibri" pitchFamily="34" charset="0"/>
                <a:ea typeface="Calibri" pitchFamily="34" charset="-122"/>
                <a:cs typeface="Calibri" pitchFamily="34" charset="-120"/>
              </a:rPr>
              <a:t>Pause, Bus, Klausur, Springstunden</a:t>
            </a:r>
            <a:endParaRPr lang="en-US" sz="1050" dirty="0"/>
          </a:p>
        </p:txBody>
      </p:sp>
      <p:sp>
        <p:nvSpPr>
          <p:cNvPr id="34" name="Shape 32"/>
          <p:cNvSpPr/>
          <p:nvPr/>
        </p:nvSpPr>
        <p:spPr>
          <a:xfrm>
            <a:off x="566928" y="4425696"/>
            <a:ext cx="3456432" cy="1115568"/>
          </a:xfrm>
          <a:prstGeom prst="roundRect">
            <a:avLst>
              <a:gd name="adj" fmla="val 8197"/>
            </a:avLst>
          </a:prstGeom>
          <a:solidFill>
            <a:srgbClr val="F3F6F8"/>
          </a:solidFill>
          <a:ln w="12700">
            <a:solidFill>
              <a:srgbClr val="E2E9EF"/>
            </a:solidFill>
            <a:prstDash val="solid"/>
          </a:ln>
        </p:spPr>
      </p:sp>
      <p:sp>
        <p:nvSpPr>
          <p:cNvPr id="35" name="Shape 33"/>
          <p:cNvSpPr/>
          <p:nvPr/>
        </p:nvSpPr>
        <p:spPr>
          <a:xfrm>
            <a:off x="768096" y="4727448"/>
            <a:ext cx="384048" cy="384048"/>
          </a:xfrm>
          <a:prstGeom prst="ellipse">
            <a:avLst/>
          </a:prstGeom>
          <a:solidFill>
            <a:srgbClr val="065A82"/>
          </a:solidFill>
          <a:ln w="12700">
            <a:solidFill>
              <a:srgbClr val="FFFFFF"/>
            </a:solidFill>
            <a:prstDash val="solid"/>
          </a:ln>
        </p:spPr>
      </p:sp>
      <p:sp>
        <p:nvSpPr>
          <p:cNvPr id="36" name="Text 34"/>
          <p:cNvSpPr/>
          <p:nvPr/>
        </p:nvSpPr>
        <p:spPr>
          <a:xfrm>
            <a:off x="768096" y="47274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7" name="Text 35"/>
          <p:cNvSpPr/>
          <p:nvPr/>
        </p:nvSpPr>
        <p:spPr>
          <a:xfrm>
            <a:off x="1261872" y="4626864"/>
            <a:ext cx="2606040" cy="438912"/>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Fort- und Weiterbildung</a:t>
            </a:r>
            <a:endParaRPr lang="en-US" sz="1300" dirty="0"/>
          </a:p>
        </p:txBody>
      </p:sp>
      <p:sp>
        <p:nvSpPr>
          <p:cNvPr id="38" name="Text 36"/>
          <p:cNvSpPr/>
          <p:nvPr/>
        </p:nvSpPr>
        <p:spPr>
          <a:xfrm>
            <a:off x="1261872" y="5029200"/>
            <a:ext cx="2606040" cy="347472"/>
          </a:xfrm>
          <a:prstGeom prst="rect">
            <a:avLst/>
          </a:prstGeom>
          <a:noFill/>
          <a:ln/>
        </p:spPr>
        <p:txBody>
          <a:bodyPr wrap="square" lIns="0" tIns="0" rIns="0" bIns="0" rtlCol="0" anchor="t"/>
          <a:lstStyle/>
          <a:p>
            <a:pPr indent="0" marL="0">
              <a:buNone/>
            </a:pPr>
            <a:r>
              <a:rPr lang="en-US" sz="1050" dirty="0">
                <a:solidFill>
                  <a:srgbClr val="5A6B7A"/>
                </a:solidFill>
                <a:latin typeface="Calibri" pitchFamily="34" charset="0"/>
                <a:ea typeface="Calibri" pitchFamily="34" charset="-122"/>
                <a:cs typeface="Calibri" pitchFamily="34" charset="-120"/>
              </a:rPr>
              <a:t>Fortbildungen, Fachliteratur</a:t>
            </a:r>
            <a:endParaRPr lang="en-US" sz="1050" dirty="0"/>
          </a:p>
        </p:txBody>
      </p:sp>
      <p:sp>
        <p:nvSpPr>
          <p:cNvPr id="39" name="Shape 37"/>
          <p:cNvSpPr/>
          <p:nvPr/>
        </p:nvSpPr>
        <p:spPr>
          <a:xfrm>
            <a:off x="4261104" y="4425696"/>
            <a:ext cx="3456432" cy="1115568"/>
          </a:xfrm>
          <a:prstGeom prst="roundRect">
            <a:avLst>
              <a:gd name="adj" fmla="val 8197"/>
            </a:avLst>
          </a:prstGeom>
          <a:solidFill>
            <a:srgbClr val="F3F6F8"/>
          </a:solidFill>
          <a:ln w="12700">
            <a:solidFill>
              <a:srgbClr val="E2E9EF"/>
            </a:solidFill>
            <a:prstDash val="solid"/>
          </a:ln>
        </p:spPr>
      </p:sp>
      <p:sp>
        <p:nvSpPr>
          <p:cNvPr id="40" name="Shape 38"/>
          <p:cNvSpPr/>
          <p:nvPr/>
        </p:nvSpPr>
        <p:spPr>
          <a:xfrm>
            <a:off x="4462272" y="4727448"/>
            <a:ext cx="384048" cy="384048"/>
          </a:xfrm>
          <a:prstGeom prst="ellipse">
            <a:avLst/>
          </a:prstGeom>
          <a:solidFill>
            <a:srgbClr val="065A82"/>
          </a:solidFill>
          <a:ln w="12700">
            <a:solidFill>
              <a:srgbClr val="FFFFFF"/>
            </a:solidFill>
            <a:prstDash val="solid"/>
          </a:ln>
        </p:spPr>
      </p:sp>
      <p:sp>
        <p:nvSpPr>
          <p:cNvPr id="41" name="Text 39"/>
          <p:cNvSpPr/>
          <p:nvPr/>
        </p:nvSpPr>
        <p:spPr>
          <a:xfrm>
            <a:off x="4462272" y="47274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2" name="Text 40"/>
          <p:cNvSpPr/>
          <p:nvPr/>
        </p:nvSpPr>
        <p:spPr>
          <a:xfrm>
            <a:off x="4956048" y="4626864"/>
            <a:ext cx="2606040" cy="438912"/>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Fahrten &amp; Veranstaltungen</a:t>
            </a:r>
            <a:endParaRPr lang="en-US" sz="1300" dirty="0"/>
          </a:p>
        </p:txBody>
      </p:sp>
      <p:sp>
        <p:nvSpPr>
          <p:cNvPr id="43" name="Text 41"/>
          <p:cNvSpPr/>
          <p:nvPr/>
        </p:nvSpPr>
        <p:spPr>
          <a:xfrm>
            <a:off x="4956048" y="5029200"/>
            <a:ext cx="2606040" cy="347472"/>
          </a:xfrm>
          <a:prstGeom prst="rect">
            <a:avLst/>
          </a:prstGeom>
          <a:noFill/>
          <a:ln/>
        </p:spPr>
        <p:txBody>
          <a:bodyPr wrap="square" lIns="0" tIns="0" rIns="0" bIns="0" rtlCol="0" anchor="t"/>
          <a:lstStyle/>
          <a:p>
            <a:pPr indent="0" marL="0">
              <a:buNone/>
            </a:pPr>
            <a:r>
              <a:rPr lang="en-US" sz="1050" dirty="0">
                <a:solidFill>
                  <a:srgbClr val="5A6B7A"/>
                </a:solidFill>
                <a:latin typeface="Calibri" pitchFamily="34" charset="0"/>
                <a:ea typeface="Calibri" pitchFamily="34" charset="-122"/>
                <a:cs typeface="Calibri" pitchFamily="34" charset="-120"/>
              </a:rPr>
              <a:t>Klassenfahrt, Wandertag, Schulfest</a:t>
            </a:r>
            <a:endParaRPr lang="en-US" sz="1050" dirty="0"/>
          </a:p>
        </p:txBody>
      </p:sp>
      <p:sp>
        <p:nvSpPr>
          <p:cNvPr id="44" name="Shape 42"/>
          <p:cNvSpPr/>
          <p:nvPr/>
        </p:nvSpPr>
        <p:spPr>
          <a:xfrm>
            <a:off x="7955280" y="4425696"/>
            <a:ext cx="3456432" cy="1115568"/>
          </a:xfrm>
          <a:prstGeom prst="roundRect">
            <a:avLst>
              <a:gd name="adj" fmla="val 8197"/>
            </a:avLst>
          </a:prstGeom>
          <a:solidFill>
            <a:srgbClr val="F3F6F8"/>
          </a:solidFill>
          <a:ln w="12700">
            <a:solidFill>
              <a:srgbClr val="E2E9EF"/>
            </a:solidFill>
            <a:prstDash val="solid"/>
          </a:ln>
        </p:spPr>
      </p:sp>
      <p:sp>
        <p:nvSpPr>
          <p:cNvPr id="45" name="Shape 43"/>
          <p:cNvSpPr/>
          <p:nvPr/>
        </p:nvSpPr>
        <p:spPr>
          <a:xfrm>
            <a:off x="8156448" y="4727448"/>
            <a:ext cx="384048" cy="384048"/>
          </a:xfrm>
          <a:prstGeom prst="ellipse">
            <a:avLst/>
          </a:prstGeom>
          <a:solidFill>
            <a:srgbClr val="C05621"/>
          </a:solidFill>
          <a:ln w="12700">
            <a:solidFill>
              <a:srgbClr val="FFFFFF"/>
            </a:solidFill>
            <a:prstDash val="solid"/>
          </a:ln>
        </p:spPr>
      </p:sp>
      <p:sp>
        <p:nvSpPr>
          <p:cNvPr id="46" name="Text 44"/>
          <p:cNvSpPr/>
          <p:nvPr/>
        </p:nvSpPr>
        <p:spPr>
          <a:xfrm>
            <a:off x="8156448" y="47274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47" name="Text 45"/>
          <p:cNvSpPr/>
          <p:nvPr/>
        </p:nvSpPr>
        <p:spPr>
          <a:xfrm>
            <a:off x="8650224" y="4626864"/>
            <a:ext cx="2606040" cy="438912"/>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Funktions- und Sonderaufgaben</a:t>
            </a:r>
            <a:endParaRPr lang="en-US" sz="1300" dirty="0"/>
          </a:p>
        </p:txBody>
      </p:sp>
      <p:sp>
        <p:nvSpPr>
          <p:cNvPr id="48" name="Text 46"/>
          <p:cNvSpPr/>
          <p:nvPr/>
        </p:nvSpPr>
        <p:spPr>
          <a:xfrm>
            <a:off x="8650224" y="5029200"/>
            <a:ext cx="2606040" cy="347472"/>
          </a:xfrm>
          <a:prstGeom prst="rect">
            <a:avLst/>
          </a:prstGeom>
          <a:noFill/>
          <a:ln/>
        </p:spPr>
        <p:txBody>
          <a:bodyPr wrap="square" lIns="0" tIns="0" rIns="0" bIns="0" rtlCol="0" anchor="t"/>
          <a:lstStyle/>
          <a:p>
            <a:pPr indent="0" marL="0">
              <a:buNone/>
            </a:pPr>
            <a:r>
              <a:rPr lang="en-US" sz="1050" dirty="0">
                <a:solidFill>
                  <a:srgbClr val="5A6B7A"/>
                </a:solidFill>
                <a:latin typeface="Calibri" pitchFamily="34" charset="0"/>
                <a:ea typeface="Calibri" pitchFamily="34" charset="-122"/>
                <a:cs typeface="Calibri" pitchFamily="34" charset="-120"/>
              </a:rPr>
              <a:t>Fachleitung, Personalrat, Projekte</a:t>
            </a:r>
            <a:endParaRPr lang="en-US" sz="1050" dirty="0"/>
          </a:p>
        </p:txBody>
      </p:sp>
      <p:sp>
        <p:nvSpPr>
          <p:cNvPr id="49" name="Text 47"/>
          <p:cNvSpPr/>
          <p:nvPr/>
        </p:nvSpPr>
        <p:spPr>
          <a:xfrm>
            <a:off x="566928" y="5852160"/>
            <a:ext cx="10607040" cy="457200"/>
          </a:xfrm>
          <a:prstGeom prst="rect">
            <a:avLst/>
          </a:prstGeom>
          <a:noFill/>
          <a:ln/>
        </p:spPr>
        <p:txBody>
          <a:bodyPr wrap="square" lIns="0" tIns="0" rIns="0" bIns="0" rtlCol="0" anchor="ctr"/>
          <a:lstStyle/>
          <a:p>
            <a:pPr indent="0" marL="0">
              <a:buNone/>
            </a:pPr>
            <a:r>
              <a:rPr lang="en-US" sz="1200" dirty="0">
                <a:solidFill>
                  <a:srgbClr val="5A6B7A"/>
                </a:solidFill>
                <a:latin typeface="Calibri" pitchFamily="34" charset="0"/>
                <a:ea typeface="Calibri" pitchFamily="34" charset="-122"/>
                <a:cs typeface="Calibri" pitchFamily="34" charset="-120"/>
              </a:rPr>
              <a:t>Orange hervorgehoben: Aufsicht und Funktionsaufgaben – zwei Positionen, die an Gemeinschaftsschulen besonders ins Gewicht fallen und in der GEW-Vorlage fehlen.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11480"/>
            <a:ext cx="11055096" cy="658368"/>
          </a:xfrm>
          <a:prstGeom prst="rect">
            <a:avLst/>
          </a:prstGeom>
          <a:noFill/>
          <a:ln/>
        </p:spPr>
        <p:txBody>
          <a:bodyPr wrap="square" lIns="0" tIns="0" rIns="0" bIns="0"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Was am Ende herauskommt</a:t>
            </a:r>
            <a:endParaRPr lang="en-US" sz="3400" dirty="0"/>
          </a:p>
        </p:txBody>
      </p:sp>
      <p:sp>
        <p:nvSpPr>
          <p:cNvPr id="3" name="Text 1"/>
          <p:cNvSpPr/>
          <p:nvPr/>
        </p:nvSpPr>
        <p:spPr>
          <a:xfrm>
            <a:off x="566928" y="1078992"/>
            <a:ext cx="11055096" cy="365760"/>
          </a:xfrm>
          <a:prstGeom prst="rect">
            <a:avLst/>
          </a:prstGeom>
          <a:noFill/>
          <a:ln/>
        </p:spPr>
        <p:txBody>
          <a:bodyPr wrap="square" lIns="0" tIns="0" rIns="0" bIns="0" rtlCol="0" anchor="ctr"/>
          <a:lstStyle/>
          <a:p>
            <a:pPr indent="0" marL="0">
              <a:buNone/>
            </a:pPr>
            <a:r>
              <a:rPr lang="en-US" sz="1500" dirty="0">
                <a:solidFill>
                  <a:srgbClr val="5A6B7A"/>
                </a:solidFill>
                <a:latin typeface="Calibri" pitchFamily="34" charset="0"/>
                <a:ea typeface="Calibri" pitchFamily="34" charset="-122"/>
                <a:cs typeface="Calibri" pitchFamily="34" charset="-120"/>
              </a:rPr>
              <a:t>Beispielauswertung einer Vollzeitkraft über sechs Wochen</a:t>
            </a:r>
            <a:endParaRPr lang="en-US" sz="1500" dirty="0"/>
          </a:p>
        </p:txBody>
      </p:sp>
      <p:graphicFrame>
        <p:nvGraphicFramePr>
          <p:cNvPr id="4" name="Chart 0" descr=""/>
          <p:cNvGraphicFramePr/>
          <p:nvPr/>
        </p:nvGraphicFramePr>
        <p:xfrm>
          <a:off x="566928" y="1783080"/>
          <a:ext cx="685800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72400" y="1783080"/>
            <a:ext cx="3840480" cy="1828800"/>
          </a:xfrm>
          <a:prstGeom prst="roundRect">
            <a:avLst>
              <a:gd name="adj" fmla="val 6000"/>
            </a:avLst>
          </a:prstGeom>
          <a:solidFill>
            <a:srgbClr val="F3F6F8"/>
          </a:solidFill>
          <a:ln w="12700">
            <a:solidFill>
              <a:srgbClr val="E2E9EF"/>
            </a:solidFill>
            <a:prstDash val="solid"/>
          </a:ln>
          <a:effectLst>
            <a:outerShdw sx="100000" sy="100000" kx="0" ky="0" algn="bl" rotWithShape="0" blurRad="152400" dist="25400" dir="5400000">
              <a:srgbClr val="0B1B2B">
                <a:alpha val="13000"/>
              </a:srgbClr>
            </a:outerShdw>
          </a:effectLst>
        </p:spPr>
      </p:sp>
      <p:sp>
        <p:nvSpPr>
          <p:cNvPr id="6" name="Shape 3"/>
          <p:cNvSpPr/>
          <p:nvPr/>
        </p:nvSpPr>
        <p:spPr>
          <a:xfrm>
            <a:off x="8028432" y="2020824"/>
            <a:ext cx="475488" cy="475488"/>
          </a:xfrm>
          <a:prstGeom prst="ellipse">
            <a:avLst/>
          </a:prstGeom>
          <a:solidFill>
            <a:srgbClr val="065A82"/>
          </a:solidFill>
          <a:ln w="12700">
            <a:solidFill>
              <a:srgbClr val="065A82"/>
            </a:solidFill>
            <a:prstDash val="solid"/>
          </a:ln>
        </p:spPr>
      </p:sp>
      <p:sp>
        <p:nvSpPr>
          <p:cNvPr id="7" name="Text 4"/>
          <p:cNvSpPr/>
          <p:nvPr/>
        </p:nvSpPr>
        <p:spPr>
          <a:xfrm>
            <a:off x="8028432" y="202082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5"/>
          <p:cNvSpPr/>
          <p:nvPr/>
        </p:nvSpPr>
        <p:spPr>
          <a:xfrm>
            <a:off x="8028432" y="2624328"/>
            <a:ext cx="3328416" cy="365760"/>
          </a:xfrm>
          <a:prstGeom prst="rect">
            <a:avLst/>
          </a:prstGeom>
          <a:noFill/>
          <a:ln/>
        </p:spPr>
        <p:txBody>
          <a:bodyPr wrap="square" lIns="0" tIns="0" rIns="0" bIns="0" rtlCol="0" anchor="t"/>
          <a:lstStyle/>
          <a:p>
            <a:pPr indent="0" marL="0">
              <a:buNone/>
            </a:pPr>
            <a:r>
              <a:rPr lang="en-US" sz="1600" b="1" dirty="0">
                <a:solidFill>
                  <a:srgbClr val="21295C"/>
                </a:solidFill>
                <a:latin typeface="Calibri" pitchFamily="34" charset="0"/>
                <a:ea typeface="Calibri" pitchFamily="34" charset="-122"/>
                <a:cs typeface="Calibri" pitchFamily="34" charset="-120"/>
              </a:rPr>
              <a:t>Kennzahlen</a:t>
            </a:r>
            <a:endParaRPr lang="en-US" sz="1600" dirty="0"/>
          </a:p>
        </p:txBody>
      </p:sp>
      <p:sp>
        <p:nvSpPr>
          <p:cNvPr id="9" name="Text 6"/>
          <p:cNvSpPr/>
          <p:nvPr/>
        </p:nvSpPr>
        <p:spPr>
          <a:xfrm>
            <a:off x="8028432" y="3008376"/>
            <a:ext cx="3328416" cy="493776"/>
          </a:xfrm>
          <a:prstGeom prst="rect">
            <a:avLst/>
          </a:prstGeom>
          <a:noFill/>
          <a:ln/>
        </p:spPr>
        <p:txBody>
          <a:bodyPr wrap="square" lIns="0" tIns="0" rIns="0" bIns="0" rtlCol="0" anchor="t"/>
          <a:lstStyle/>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Soll- und Ist-Zeit, Saldo, Wochenverlauf – für jeden Zeitraum von einer Woche bis zum ganzen Schuljahr.</a:t>
            </a:r>
            <a:endParaRPr lang="en-US" sz="1300" dirty="0"/>
          </a:p>
        </p:txBody>
      </p:sp>
      <p:sp>
        <p:nvSpPr>
          <p:cNvPr id="10" name="Shape 7"/>
          <p:cNvSpPr/>
          <p:nvPr/>
        </p:nvSpPr>
        <p:spPr>
          <a:xfrm>
            <a:off x="7772400" y="3794760"/>
            <a:ext cx="3840480" cy="1920240"/>
          </a:xfrm>
          <a:prstGeom prst="roundRect">
            <a:avLst>
              <a:gd name="adj" fmla="val 5714"/>
            </a:avLst>
          </a:prstGeom>
          <a:solidFill>
            <a:srgbClr val="065A82"/>
          </a:solidFill>
          <a:ln w="12700">
            <a:solidFill>
              <a:srgbClr val="065A82"/>
            </a:solidFill>
            <a:prstDash val="solid"/>
          </a:ln>
          <a:effectLst>
            <a:outerShdw sx="100000" sy="100000" kx="0" ky="0" algn="bl" rotWithShape="0" blurRad="152400" dist="25400" dir="5400000">
              <a:srgbClr val="0B1B2B">
                <a:alpha val="13000"/>
              </a:srgbClr>
            </a:outerShdw>
          </a:effectLst>
        </p:spPr>
      </p:sp>
      <p:sp>
        <p:nvSpPr>
          <p:cNvPr id="11" name="Shape 8"/>
          <p:cNvSpPr/>
          <p:nvPr/>
        </p:nvSpPr>
        <p:spPr>
          <a:xfrm>
            <a:off x="8028432" y="4032504"/>
            <a:ext cx="475488" cy="475488"/>
          </a:xfrm>
          <a:prstGeom prst="ellipse">
            <a:avLst/>
          </a:prstGeom>
          <a:solidFill>
            <a:srgbClr val="FFFFFF"/>
          </a:solidFill>
          <a:ln w="12700">
            <a:solidFill>
              <a:srgbClr val="FFFFFF"/>
            </a:solidFill>
            <a:prstDash val="solid"/>
          </a:ln>
        </p:spPr>
      </p:sp>
      <p:sp>
        <p:nvSpPr>
          <p:cNvPr id="12" name="Text 9"/>
          <p:cNvSpPr/>
          <p:nvPr/>
        </p:nvSpPr>
        <p:spPr>
          <a:xfrm>
            <a:off x="8028432" y="4032504"/>
            <a:ext cx="475488" cy="475488"/>
          </a:xfrm>
          <a:prstGeom prst="rect">
            <a:avLst/>
          </a:prstGeom>
          <a:noFill/>
          <a:ln/>
        </p:spPr>
        <p:txBody>
          <a:bodyPr wrap="square" lIns="0" tIns="0" rIns="0" bIns="0" rtlCol="0" anchor="ctr"/>
          <a:lstStyle/>
          <a:p>
            <a:pPr algn="ctr" indent="0" marL="0">
              <a:buNone/>
            </a:pPr>
            <a:r>
              <a:rPr lang="en-US" sz="1600" b="1" dirty="0">
                <a:solidFill>
                  <a:srgbClr val="065A82"/>
                </a:solidFill>
                <a:latin typeface="Calibri" pitchFamily="34" charset="0"/>
                <a:ea typeface="Calibri" pitchFamily="34" charset="-122"/>
                <a:cs typeface="Calibri" pitchFamily="34" charset="-120"/>
              </a:rPr>
              <a:t>↓</a:t>
            </a:r>
            <a:endParaRPr lang="en-US" sz="1600" dirty="0"/>
          </a:p>
        </p:txBody>
      </p:sp>
      <p:sp>
        <p:nvSpPr>
          <p:cNvPr id="13" name="Text 10"/>
          <p:cNvSpPr/>
          <p:nvPr/>
        </p:nvSpPr>
        <p:spPr>
          <a:xfrm>
            <a:off x="8028432" y="4636008"/>
            <a:ext cx="3328416"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Drei Exporte</a:t>
            </a:r>
            <a:endParaRPr lang="en-US" sz="1600" dirty="0"/>
          </a:p>
        </p:txBody>
      </p:sp>
      <p:sp>
        <p:nvSpPr>
          <p:cNvPr id="14" name="Text 11"/>
          <p:cNvSpPr/>
          <p:nvPr/>
        </p:nvSpPr>
        <p:spPr>
          <a:xfrm>
            <a:off x="8028432" y="5020056"/>
            <a:ext cx="3328416" cy="585216"/>
          </a:xfrm>
          <a:prstGeom prst="rect">
            <a:avLst/>
          </a:prstGeom>
          <a:noFill/>
          <a:ln/>
        </p:spPr>
        <p:txBody>
          <a:bodyPr wrap="square" lIns="0" tIns="0" rIns="0" bIns="0" rtlCol="0" anchor="t"/>
          <a:lstStyle/>
          <a:p>
            <a:pPr indent="0" marL="0">
              <a:lnSpc>
                <a:spcPct val="118000"/>
              </a:lnSpc>
              <a:buNone/>
            </a:pPr>
            <a:r>
              <a:rPr lang="en-US" sz="1300" dirty="0">
                <a:solidFill>
                  <a:srgbClr val="B8C4D0"/>
                </a:solidFill>
                <a:latin typeface="Calibri" pitchFamily="34" charset="0"/>
                <a:ea typeface="Calibri" pitchFamily="34" charset="-122"/>
                <a:cs typeface="Calibri" pitchFamily="34" charset="-120"/>
              </a:rPr>
              <a:t>Excel, CSV und ein druckfertiger Bericht mit Unterschriftszeile – als Anlage zu einer Überlastungsanzeige.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11480"/>
            <a:ext cx="11055096" cy="658368"/>
          </a:xfrm>
          <a:prstGeom prst="rect">
            <a:avLst/>
          </a:prstGeom>
          <a:noFill/>
          <a:ln/>
        </p:spPr>
        <p:txBody>
          <a:bodyPr wrap="square" lIns="0" tIns="0" rIns="0" bIns="0"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Teilzeit</a:t>
            </a:r>
            <a:endParaRPr lang="en-US" sz="3400" dirty="0"/>
          </a:p>
        </p:txBody>
      </p:sp>
      <p:sp>
        <p:nvSpPr>
          <p:cNvPr id="3" name="Text 1"/>
          <p:cNvSpPr/>
          <p:nvPr/>
        </p:nvSpPr>
        <p:spPr>
          <a:xfrm>
            <a:off x="566928" y="1078992"/>
            <a:ext cx="11055096" cy="365760"/>
          </a:xfrm>
          <a:prstGeom prst="rect">
            <a:avLst/>
          </a:prstGeom>
          <a:noFill/>
          <a:ln/>
        </p:spPr>
        <p:txBody>
          <a:bodyPr wrap="square" lIns="0" tIns="0" rIns="0" bIns="0" rtlCol="0" anchor="ctr"/>
          <a:lstStyle/>
          <a:p>
            <a:pPr indent="0" marL="0">
              <a:buNone/>
            </a:pPr>
            <a:r>
              <a:rPr lang="en-US" sz="1500" dirty="0">
                <a:solidFill>
                  <a:srgbClr val="5A6B7A"/>
                </a:solidFill>
                <a:latin typeface="Calibri" pitchFamily="34" charset="0"/>
                <a:ea typeface="Calibri" pitchFamily="34" charset="-122"/>
                <a:cs typeface="Calibri" pitchFamily="34" charset="-120"/>
              </a:rPr>
              <a:t>Der Bescheid wird eingetragen, nicht umgerechnet</a:t>
            </a:r>
            <a:endParaRPr lang="en-US" sz="1500" dirty="0"/>
          </a:p>
        </p:txBody>
      </p:sp>
      <p:sp>
        <p:nvSpPr>
          <p:cNvPr id="4" name="Shape 2"/>
          <p:cNvSpPr/>
          <p:nvPr/>
        </p:nvSpPr>
        <p:spPr>
          <a:xfrm>
            <a:off x="566928" y="1783080"/>
            <a:ext cx="3401568" cy="1965960"/>
          </a:xfrm>
          <a:prstGeom prst="roundRect">
            <a:avLst>
              <a:gd name="adj" fmla="val 5581"/>
            </a:avLst>
          </a:prstGeom>
          <a:solidFill>
            <a:srgbClr val="F3F6F8"/>
          </a:solidFill>
          <a:ln w="12700">
            <a:solidFill>
              <a:srgbClr val="E2E9EF"/>
            </a:solidFill>
            <a:prstDash val="solid"/>
          </a:ln>
          <a:effectLst>
            <a:outerShdw sx="100000" sy="100000" kx="0" ky="0" algn="bl" rotWithShape="0" blurRad="152400" dist="25400" dir="5400000">
              <a:srgbClr val="0B1B2B">
                <a:alpha val="13000"/>
              </a:srgbClr>
            </a:outerShdw>
          </a:effectLst>
        </p:spPr>
      </p:sp>
      <p:sp>
        <p:nvSpPr>
          <p:cNvPr id="5" name="Shape 3"/>
          <p:cNvSpPr/>
          <p:nvPr/>
        </p:nvSpPr>
        <p:spPr>
          <a:xfrm>
            <a:off x="822960" y="2020824"/>
            <a:ext cx="475488" cy="475488"/>
          </a:xfrm>
          <a:prstGeom prst="ellipse">
            <a:avLst/>
          </a:prstGeom>
          <a:solidFill>
            <a:srgbClr val="065A82"/>
          </a:solidFill>
          <a:ln w="12700">
            <a:solidFill>
              <a:srgbClr val="065A82"/>
            </a:solidFill>
            <a:prstDash val="solid"/>
          </a:ln>
        </p:spPr>
      </p:sp>
      <p:sp>
        <p:nvSpPr>
          <p:cNvPr id="6" name="Text 4"/>
          <p:cNvSpPr/>
          <p:nvPr/>
        </p:nvSpPr>
        <p:spPr>
          <a:xfrm>
            <a:off x="822960" y="202082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½</a:t>
            </a:r>
            <a:endParaRPr lang="en-US" sz="1600" dirty="0"/>
          </a:p>
        </p:txBody>
      </p:sp>
      <p:sp>
        <p:nvSpPr>
          <p:cNvPr id="7" name="Text 5"/>
          <p:cNvSpPr/>
          <p:nvPr/>
        </p:nvSpPr>
        <p:spPr>
          <a:xfrm>
            <a:off x="822960" y="2624328"/>
            <a:ext cx="2889504" cy="365760"/>
          </a:xfrm>
          <a:prstGeom prst="rect">
            <a:avLst/>
          </a:prstGeom>
          <a:noFill/>
          <a:ln/>
        </p:spPr>
        <p:txBody>
          <a:bodyPr wrap="square" lIns="0" tIns="0" rIns="0" bIns="0" rtlCol="0" anchor="t"/>
          <a:lstStyle/>
          <a:p>
            <a:pPr indent="0" marL="0">
              <a:buNone/>
            </a:pPr>
            <a:r>
              <a:rPr lang="en-US" sz="1600" b="1" dirty="0">
                <a:solidFill>
                  <a:srgbClr val="21295C"/>
                </a:solidFill>
                <a:latin typeface="Calibri" pitchFamily="34" charset="0"/>
                <a:ea typeface="Calibri" pitchFamily="34" charset="-122"/>
                <a:cs typeface="Calibri" pitchFamily="34" charset="-120"/>
              </a:rPr>
              <a:t>Als Unterrichtsstunden</a:t>
            </a:r>
            <a:endParaRPr lang="en-US" sz="1600" dirty="0"/>
          </a:p>
        </p:txBody>
      </p:sp>
      <p:sp>
        <p:nvSpPr>
          <p:cNvPr id="8" name="Text 6"/>
          <p:cNvSpPr/>
          <p:nvPr/>
        </p:nvSpPr>
        <p:spPr>
          <a:xfrm>
            <a:off x="822960" y="3008376"/>
            <a:ext cx="2889504" cy="630936"/>
          </a:xfrm>
          <a:prstGeom prst="rect">
            <a:avLst/>
          </a:prstGeom>
          <a:noFill/>
          <a:ln/>
        </p:spPr>
        <p:txBody>
          <a:bodyPr wrap="square" lIns="0" tIns="0" rIns="0" bIns="0" rtlCol="0" anchor="t"/>
          <a:lstStyle/>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„21 von 27 Stunden"</a:t>
            </a:r>
            <a:endParaRPr lang="en-US" sz="1300" dirty="0"/>
          </a:p>
          <a:p>
            <a:pPr indent="0" marL="0">
              <a:lnSpc>
                <a:spcPct val="118000"/>
              </a:lnSpc>
              <a:buNone/>
            </a:pPr>
            <a:endParaRPr lang="en-US" sz="1300" dirty="0"/>
          </a:p>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Üblich bei verbeamteten Lehrkräften.</a:t>
            </a:r>
            <a:endParaRPr lang="en-US" sz="1300" dirty="0"/>
          </a:p>
        </p:txBody>
      </p:sp>
      <p:sp>
        <p:nvSpPr>
          <p:cNvPr id="9" name="Shape 7"/>
          <p:cNvSpPr/>
          <p:nvPr/>
        </p:nvSpPr>
        <p:spPr>
          <a:xfrm>
            <a:off x="4206240" y="1783080"/>
            <a:ext cx="3401568" cy="1965960"/>
          </a:xfrm>
          <a:prstGeom prst="roundRect">
            <a:avLst>
              <a:gd name="adj" fmla="val 5581"/>
            </a:avLst>
          </a:prstGeom>
          <a:solidFill>
            <a:srgbClr val="F3F6F8"/>
          </a:solidFill>
          <a:ln w="12700">
            <a:solidFill>
              <a:srgbClr val="E2E9EF"/>
            </a:solidFill>
            <a:prstDash val="solid"/>
          </a:ln>
          <a:effectLst>
            <a:outerShdw sx="100000" sy="100000" kx="0" ky="0" algn="bl" rotWithShape="0" blurRad="152400" dist="25400" dir="5400000">
              <a:srgbClr val="0B1B2B">
                <a:alpha val="13000"/>
              </a:srgbClr>
            </a:outerShdw>
          </a:effectLst>
        </p:spPr>
      </p:sp>
      <p:sp>
        <p:nvSpPr>
          <p:cNvPr id="10" name="Shape 8"/>
          <p:cNvSpPr/>
          <p:nvPr/>
        </p:nvSpPr>
        <p:spPr>
          <a:xfrm>
            <a:off x="4462272" y="2020824"/>
            <a:ext cx="475488" cy="475488"/>
          </a:xfrm>
          <a:prstGeom prst="ellipse">
            <a:avLst/>
          </a:prstGeom>
          <a:solidFill>
            <a:srgbClr val="065A82"/>
          </a:solidFill>
          <a:ln w="12700">
            <a:solidFill>
              <a:srgbClr val="065A82"/>
            </a:solidFill>
            <a:prstDash val="solid"/>
          </a:ln>
        </p:spPr>
      </p:sp>
      <p:sp>
        <p:nvSpPr>
          <p:cNvPr id="11" name="Text 9"/>
          <p:cNvSpPr/>
          <p:nvPr/>
        </p:nvSpPr>
        <p:spPr>
          <a:xfrm>
            <a:off x="4462272" y="202082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4462272" y="2624328"/>
            <a:ext cx="2889504" cy="365760"/>
          </a:xfrm>
          <a:prstGeom prst="rect">
            <a:avLst/>
          </a:prstGeom>
          <a:noFill/>
          <a:ln/>
        </p:spPr>
        <p:txBody>
          <a:bodyPr wrap="square" lIns="0" tIns="0" rIns="0" bIns="0" rtlCol="0" anchor="t"/>
          <a:lstStyle/>
          <a:p>
            <a:pPr indent="0" marL="0">
              <a:buNone/>
            </a:pPr>
            <a:r>
              <a:rPr lang="en-US" sz="1600" b="1" dirty="0">
                <a:solidFill>
                  <a:srgbClr val="21295C"/>
                </a:solidFill>
                <a:latin typeface="Calibri" pitchFamily="34" charset="0"/>
                <a:ea typeface="Calibri" pitchFamily="34" charset="-122"/>
                <a:cs typeface="Calibri" pitchFamily="34" charset="-120"/>
              </a:rPr>
              <a:t>Als Bruchteil</a:t>
            </a:r>
            <a:endParaRPr lang="en-US" sz="1600" dirty="0"/>
          </a:p>
        </p:txBody>
      </p:sp>
      <p:sp>
        <p:nvSpPr>
          <p:cNvPr id="13" name="Text 11"/>
          <p:cNvSpPr/>
          <p:nvPr/>
        </p:nvSpPr>
        <p:spPr>
          <a:xfrm>
            <a:off x="4462272" y="3008376"/>
            <a:ext cx="2889504" cy="630936"/>
          </a:xfrm>
          <a:prstGeom prst="rect">
            <a:avLst/>
          </a:prstGeom>
          <a:noFill/>
          <a:ln/>
        </p:spPr>
        <p:txBody>
          <a:bodyPr wrap="square" lIns="0" tIns="0" rIns="0" bIns="0" rtlCol="0" anchor="t"/>
          <a:lstStyle/>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„drei Viertel" = 75 %</a:t>
            </a:r>
            <a:endParaRPr lang="en-US" sz="1300" dirty="0"/>
          </a:p>
          <a:p>
            <a:pPr indent="0" marL="0">
              <a:lnSpc>
                <a:spcPct val="118000"/>
              </a:lnSpc>
              <a:buNone/>
            </a:pPr>
            <a:endParaRPr lang="en-US" sz="1300" dirty="0"/>
          </a:p>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Bei Bruchteilsbewilligungen.</a:t>
            </a:r>
            <a:endParaRPr lang="en-US" sz="1300" dirty="0"/>
          </a:p>
        </p:txBody>
      </p:sp>
      <p:sp>
        <p:nvSpPr>
          <p:cNvPr id="14" name="Shape 12"/>
          <p:cNvSpPr/>
          <p:nvPr/>
        </p:nvSpPr>
        <p:spPr>
          <a:xfrm>
            <a:off x="7845552" y="1783080"/>
            <a:ext cx="3401568" cy="1965960"/>
          </a:xfrm>
          <a:prstGeom prst="roundRect">
            <a:avLst>
              <a:gd name="adj" fmla="val 5581"/>
            </a:avLst>
          </a:prstGeom>
          <a:solidFill>
            <a:srgbClr val="F3F6F8"/>
          </a:solidFill>
          <a:ln w="12700">
            <a:solidFill>
              <a:srgbClr val="E2E9EF"/>
            </a:solidFill>
            <a:prstDash val="solid"/>
          </a:ln>
          <a:effectLst>
            <a:outerShdw sx="100000" sy="100000" kx="0" ky="0" algn="bl" rotWithShape="0" blurRad="152400" dist="25400" dir="5400000">
              <a:srgbClr val="0B1B2B">
                <a:alpha val="13000"/>
              </a:srgbClr>
            </a:outerShdw>
          </a:effectLst>
        </p:spPr>
      </p:sp>
      <p:sp>
        <p:nvSpPr>
          <p:cNvPr id="15" name="Shape 13"/>
          <p:cNvSpPr/>
          <p:nvPr/>
        </p:nvSpPr>
        <p:spPr>
          <a:xfrm>
            <a:off x="8101584" y="2020824"/>
            <a:ext cx="475488" cy="475488"/>
          </a:xfrm>
          <a:prstGeom prst="ellipse">
            <a:avLst/>
          </a:prstGeom>
          <a:solidFill>
            <a:srgbClr val="065A82"/>
          </a:solidFill>
          <a:ln w="12700">
            <a:solidFill>
              <a:srgbClr val="065A82"/>
            </a:solidFill>
            <a:prstDash val="solid"/>
          </a:ln>
        </p:spPr>
      </p:sp>
      <p:sp>
        <p:nvSpPr>
          <p:cNvPr id="16" name="Text 14"/>
          <p:cNvSpPr/>
          <p:nvPr/>
        </p:nvSpPr>
        <p:spPr>
          <a:xfrm>
            <a:off x="8101584" y="202082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a:t>
            </a:r>
            <a:endParaRPr lang="en-US" sz="1600" dirty="0"/>
          </a:p>
        </p:txBody>
      </p:sp>
      <p:sp>
        <p:nvSpPr>
          <p:cNvPr id="17" name="Text 15"/>
          <p:cNvSpPr/>
          <p:nvPr/>
        </p:nvSpPr>
        <p:spPr>
          <a:xfrm>
            <a:off x="8101584" y="2624328"/>
            <a:ext cx="2889504" cy="365760"/>
          </a:xfrm>
          <a:prstGeom prst="rect">
            <a:avLst/>
          </a:prstGeom>
          <a:noFill/>
          <a:ln/>
        </p:spPr>
        <p:txBody>
          <a:bodyPr wrap="square" lIns="0" tIns="0" rIns="0" bIns="0" rtlCol="0" anchor="t"/>
          <a:lstStyle/>
          <a:p>
            <a:pPr indent="0" marL="0">
              <a:buNone/>
            </a:pPr>
            <a:r>
              <a:rPr lang="en-US" sz="1600" b="1" dirty="0">
                <a:solidFill>
                  <a:srgbClr val="21295C"/>
                </a:solidFill>
                <a:latin typeface="Calibri" pitchFamily="34" charset="0"/>
                <a:ea typeface="Calibri" pitchFamily="34" charset="-122"/>
                <a:cs typeface="Calibri" pitchFamily="34" charset="-120"/>
              </a:rPr>
              <a:t>Als Wochenstunden</a:t>
            </a:r>
            <a:endParaRPr lang="en-US" sz="1600" dirty="0"/>
          </a:p>
        </p:txBody>
      </p:sp>
      <p:sp>
        <p:nvSpPr>
          <p:cNvPr id="18" name="Text 16"/>
          <p:cNvSpPr/>
          <p:nvPr/>
        </p:nvSpPr>
        <p:spPr>
          <a:xfrm>
            <a:off x="8101584" y="3008376"/>
            <a:ext cx="2889504" cy="630936"/>
          </a:xfrm>
          <a:prstGeom prst="rect">
            <a:avLst/>
          </a:prstGeom>
          <a:noFill/>
          <a:ln/>
        </p:spPr>
        <p:txBody>
          <a:bodyPr wrap="square" lIns="0" tIns="0" rIns="0" bIns="0" rtlCol="0" anchor="t"/>
          <a:lstStyle/>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„30,75 von 41 Stunden"</a:t>
            </a:r>
            <a:endParaRPr lang="en-US" sz="1300" dirty="0"/>
          </a:p>
          <a:p>
            <a:pPr indent="0" marL="0">
              <a:lnSpc>
                <a:spcPct val="118000"/>
              </a:lnSpc>
              <a:buNone/>
            </a:pPr>
            <a:endParaRPr lang="en-US" sz="1300" dirty="0"/>
          </a:p>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Üblich bei Tarifbeschäftigten nach TV-L.</a:t>
            </a:r>
            <a:endParaRPr lang="en-US" sz="1300" dirty="0"/>
          </a:p>
        </p:txBody>
      </p:sp>
      <p:sp>
        <p:nvSpPr>
          <p:cNvPr id="19" name="Shape 17"/>
          <p:cNvSpPr/>
          <p:nvPr/>
        </p:nvSpPr>
        <p:spPr>
          <a:xfrm>
            <a:off x="566928" y="3977640"/>
            <a:ext cx="10607040" cy="1783080"/>
          </a:xfrm>
          <a:prstGeom prst="roundRect">
            <a:avLst>
              <a:gd name="adj" fmla="val 6154"/>
            </a:avLst>
          </a:prstGeom>
          <a:solidFill>
            <a:srgbClr val="065A82"/>
          </a:solidFill>
          <a:ln w="12700">
            <a:solidFill>
              <a:srgbClr val="065A82"/>
            </a:solidFill>
            <a:prstDash val="solid"/>
          </a:ln>
          <a:effectLst>
            <a:outerShdw sx="100000" sy="100000" kx="0" ky="0" algn="bl" rotWithShape="0" blurRad="152400" dist="25400" dir="5400000">
              <a:srgbClr val="0B1B2B">
                <a:alpha val="13000"/>
              </a:srgbClr>
            </a:outerShdw>
          </a:effectLst>
        </p:spPr>
      </p:sp>
      <p:sp>
        <p:nvSpPr>
          <p:cNvPr id="20" name="Shape 18"/>
          <p:cNvSpPr/>
          <p:nvPr/>
        </p:nvSpPr>
        <p:spPr>
          <a:xfrm>
            <a:off x="822960" y="4215384"/>
            <a:ext cx="475488" cy="475488"/>
          </a:xfrm>
          <a:prstGeom prst="ellipse">
            <a:avLst/>
          </a:prstGeom>
          <a:solidFill>
            <a:srgbClr val="FFFFFF"/>
          </a:solidFill>
          <a:ln w="12700">
            <a:solidFill>
              <a:srgbClr val="FFFFFF"/>
            </a:solidFill>
            <a:prstDash val="solid"/>
          </a:ln>
        </p:spPr>
      </p:sp>
      <p:sp>
        <p:nvSpPr>
          <p:cNvPr id="21" name="Text 19"/>
          <p:cNvSpPr/>
          <p:nvPr/>
        </p:nvSpPr>
        <p:spPr>
          <a:xfrm>
            <a:off x="822960" y="4215384"/>
            <a:ext cx="475488" cy="475488"/>
          </a:xfrm>
          <a:prstGeom prst="rect">
            <a:avLst/>
          </a:prstGeom>
          <a:noFill/>
          <a:ln/>
        </p:spPr>
        <p:txBody>
          <a:bodyPr wrap="square" lIns="0" tIns="0" rIns="0" bIns="0" rtlCol="0" anchor="ctr"/>
          <a:lstStyle/>
          <a:p>
            <a:pPr algn="ctr" indent="0" marL="0">
              <a:buNone/>
            </a:pPr>
            <a:r>
              <a:rPr lang="en-US" sz="1600" b="1" dirty="0">
                <a:solidFill>
                  <a:srgbClr val="065A82"/>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822960" y="4818888"/>
            <a:ext cx="10094976"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Teilzeit gilt auch außerhalb des Unterrichts</a:t>
            </a:r>
            <a:endParaRPr lang="en-US" sz="1600" dirty="0"/>
          </a:p>
        </p:txBody>
      </p:sp>
      <p:sp>
        <p:nvSpPr>
          <p:cNvPr id="23" name="Text 21"/>
          <p:cNvSpPr/>
          <p:nvPr/>
        </p:nvSpPr>
        <p:spPr>
          <a:xfrm>
            <a:off x="822960" y="5202936"/>
            <a:ext cx="10094976" cy="448056"/>
          </a:xfrm>
          <a:prstGeom prst="rect">
            <a:avLst/>
          </a:prstGeom>
          <a:noFill/>
          <a:ln/>
        </p:spPr>
        <p:txBody>
          <a:bodyPr wrap="square" lIns="0" tIns="0" rIns="0" bIns="0" rtlCol="0" anchor="t"/>
          <a:lstStyle/>
          <a:p>
            <a:pPr indent="0" marL="0">
              <a:lnSpc>
                <a:spcPct val="118000"/>
              </a:lnSpc>
              <a:buNone/>
            </a:pPr>
            <a:r>
              <a:rPr lang="en-US" sz="1300" dirty="0">
                <a:solidFill>
                  <a:srgbClr val="B8C4D0"/>
                </a:solidFill>
                <a:latin typeface="Calibri" pitchFamily="34" charset="0"/>
                <a:ea typeface="Calibri" pitchFamily="34" charset="-122"/>
                <a:cs typeface="Calibri" pitchFamily="34" charset="-120"/>
              </a:rPr>
              <a:t>Konferenzen, Aufsichten, Korrekturen und Elterngespräche dürfen nur im Umfang der bewilligten Teilzeit verlangt werden – nicht in vollem Umfang. Das steht auf dem Papier und sieht in der Praxis oft anders aus. Die Erfassung ist der Beleg: Der Saldo vergleicht immer mit dem anteiligen Soll, nie mit dem einer Vollzeitkraft.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11480"/>
            <a:ext cx="11055096" cy="658368"/>
          </a:xfrm>
          <a:prstGeom prst="rect">
            <a:avLst/>
          </a:prstGeom>
          <a:noFill/>
          <a:ln/>
        </p:spPr>
        <p:txBody>
          <a:bodyPr wrap="square" lIns="0" tIns="0" rIns="0" bIns="0"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Anrechnungsstunden: reicht die Entlastung?</a:t>
            </a:r>
            <a:endParaRPr lang="en-US" sz="3400" dirty="0"/>
          </a:p>
        </p:txBody>
      </p:sp>
      <p:sp>
        <p:nvSpPr>
          <p:cNvPr id="3" name="Text 1"/>
          <p:cNvSpPr/>
          <p:nvPr/>
        </p:nvSpPr>
        <p:spPr>
          <a:xfrm>
            <a:off x="566928" y="1078992"/>
            <a:ext cx="11055096" cy="365760"/>
          </a:xfrm>
          <a:prstGeom prst="rect">
            <a:avLst/>
          </a:prstGeom>
          <a:noFill/>
          <a:ln/>
        </p:spPr>
        <p:txBody>
          <a:bodyPr wrap="square" lIns="0" tIns="0" rIns="0" bIns="0" rtlCol="0" anchor="ctr"/>
          <a:lstStyle/>
          <a:p>
            <a:pPr indent="0" marL="0">
              <a:buNone/>
            </a:pPr>
            <a:r>
              <a:rPr lang="en-US" sz="1500" dirty="0">
                <a:solidFill>
                  <a:srgbClr val="5A6B7A"/>
                </a:solidFill>
                <a:latin typeface="Calibri" pitchFamily="34" charset="0"/>
                <a:ea typeface="Calibri" pitchFamily="34" charset="-122"/>
                <a:cs typeface="Calibri" pitchFamily="34" charset="-120"/>
              </a:rPr>
              <a:t>Zum ersten Mal eine Zahl statt eines Gefühls</a:t>
            </a:r>
            <a:endParaRPr lang="en-US" sz="1500" dirty="0"/>
          </a:p>
        </p:txBody>
      </p:sp>
      <p:sp>
        <p:nvSpPr>
          <p:cNvPr id="4" name="Text 2"/>
          <p:cNvSpPr/>
          <p:nvPr/>
        </p:nvSpPr>
        <p:spPr>
          <a:xfrm>
            <a:off x="566928" y="1645920"/>
            <a:ext cx="10607040" cy="868680"/>
          </a:xfrm>
          <a:prstGeom prst="rect">
            <a:avLst/>
          </a:prstGeom>
          <a:noFill/>
          <a:ln/>
        </p:spPr>
        <p:txBody>
          <a:bodyPr wrap="square" lIns="0" tIns="0" rIns="0" bIns="0" rtlCol="0" anchor="ctr"/>
          <a:lstStyle/>
          <a:p>
            <a:pPr indent="0" marL="0">
              <a:lnSpc>
                <a:spcPct val="125000"/>
              </a:lnSpc>
              <a:buNone/>
            </a:pPr>
            <a:r>
              <a:rPr lang="en-US" sz="1500" dirty="0">
                <a:solidFill>
                  <a:srgbClr val="1B2430"/>
                </a:solidFill>
                <a:latin typeface="Calibri" pitchFamily="34" charset="0"/>
                <a:ea typeface="Calibri" pitchFamily="34" charset="-122"/>
                <a:cs typeface="Calibri" pitchFamily="34" charset="-120"/>
              </a:rPr>
              <a:t>Wer eine Funktionsaufgabe hat – Sicherheitsbeauftragung, Fachkonferenzleitung, Medienbetreuung, Personalrat –, bekommt dafür Stunden vom Unterricht erlassen. Die App rechnet aus, was eine solche Stunde an Arbeitszeit wert ist, und hält den tatsächlichen Aufwand dagegen.</a:t>
            </a:r>
            <a:endParaRPr lang="en-US" sz="1500" dirty="0"/>
          </a:p>
        </p:txBody>
      </p:sp>
      <p:sp>
        <p:nvSpPr>
          <p:cNvPr id="5" name="Text 3"/>
          <p:cNvSpPr/>
          <p:nvPr/>
        </p:nvSpPr>
        <p:spPr>
          <a:xfrm>
            <a:off x="566928" y="2743200"/>
            <a:ext cx="3017520" cy="868680"/>
          </a:xfrm>
          <a:prstGeom prst="rect">
            <a:avLst/>
          </a:prstGeom>
          <a:noFill/>
          <a:ln/>
        </p:spPr>
        <p:txBody>
          <a:bodyPr wrap="square" lIns="0" tIns="0" rIns="0" bIns="0" rtlCol="0" anchor="ctr"/>
          <a:lstStyle/>
          <a:p>
            <a:pPr algn="l" indent="0" marL="0">
              <a:buNone/>
            </a:pPr>
            <a:r>
              <a:rPr lang="en-US" sz="4400" b="1" dirty="0">
                <a:solidFill>
                  <a:srgbClr val="065A82"/>
                </a:solidFill>
                <a:latin typeface="Cambria" pitchFamily="34" charset="0"/>
                <a:ea typeface="Cambria" pitchFamily="34" charset="-122"/>
                <a:cs typeface="Cambria" pitchFamily="34" charset="-120"/>
              </a:rPr>
              <a:t>1:31 h</a:t>
            </a:r>
            <a:endParaRPr lang="en-US" sz="4400" dirty="0"/>
          </a:p>
        </p:txBody>
      </p:sp>
      <p:sp>
        <p:nvSpPr>
          <p:cNvPr id="6" name="Text 4"/>
          <p:cNvSpPr/>
          <p:nvPr/>
        </p:nvSpPr>
        <p:spPr>
          <a:xfrm>
            <a:off x="566928" y="3611880"/>
            <a:ext cx="3017520" cy="658368"/>
          </a:xfrm>
          <a:prstGeom prst="rect">
            <a:avLst/>
          </a:prstGeom>
          <a:noFill/>
          <a:ln/>
        </p:spPr>
        <p:txBody>
          <a:bodyPr wrap="square" lIns="0" tIns="0" rIns="0" bIns="0" rtlCol="0" anchor="t"/>
          <a:lstStyle/>
          <a:p>
            <a:pPr algn="l" indent="0" marL="0">
              <a:lnSpc>
                <a:spcPct val="115000"/>
              </a:lnSpc>
              <a:buNone/>
            </a:pPr>
            <a:r>
              <a:rPr lang="en-US" sz="1300" dirty="0">
                <a:solidFill>
                  <a:srgbClr val="5A6B7A"/>
                </a:solidFill>
                <a:latin typeface="Calibri" pitchFamily="34" charset="0"/>
                <a:ea typeface="Calibri" pitchFamily="34" charset="-122"/>
                <a:cs typeface="Calibri" pitchFamily="34" charset="-120"/>
              </a:rPr>
              <a:t>Arbeitszeit entspricht einer</a:t>
            </a:r>
            <a:endParaRPr lang="en-US" sz="1300" dirty="0"/>
          </a:p>
          <a:p>
            <a:pPr algn="l" indent="0" marL="0">
              <a:lnSpc>
                <a:spcPct val="115000"/>
              </a:lnSpc>
              <a:buNone/>
            </a:pPr>
            <a:r>
              <a:rPr lang="en-US" sz="1300" dirty="0">
                <a:solidFill>
                  <a:srgbClr val="5A6B7A"/>
                </a:solidFill>
                <a:latin typeface="Calibri" pitchFamily="34" charset="0"/>
                <a:ea typeface="Calibri" pitchFamily="34" charset="-122"/>
                <a:cs typeface="Calibri" pitchFamily="34" charset="-120"/>
              </a:rPr>
              <a:t>Anrechnungsstunde</a:t>
            </a:r>
            <a:endParaRPr lang="en-US" sz="1300" dirty="0"/>
          </a:p>
          <a:p>
            <a:pPr algn="l" indent="0" marL="0">
              <a:lnSpc>
                <a:spcPct val="115000"/>
              </a:lnSpc>
              <a:buNone/>
            </a:pPr>
            <a:r>
              <a:rPr lang="en-US" sz="1300" dirty="0">
                <a:solidFill>
                  <a:srgbClr val="5A6B7A"/>
                </a:solidFill>
                <a:latin typeface="Calibri" pitchFamily="34" charset="0"/>
                <a:ea typeface="Calibri" pitchFamily="34" charset="-122"/>
                <a:cs typeface="Calibri" pitchFamily="34" charset="-120"/>
              </a:rPr>
              <a:t>(41 h ÷ 27 Pflichtstunden)</a:t>
            </a:r>
            <a:endParaRPr lang="en-US" sz="1300" dirty="0"/>
          </a:p>
        </p:txBody>
      </p:sp>
      <p:sp>
        <p:nvSpPr>
          <p:cNvPr id="7" name="Shape 5"/>
          <p:cNvSpPr/>
          <p:nvPr/>
        </p:nvSpPr>
        <p:spPr>
          <a:xfrm>
            <a:off x="3931920" y="2651760"/>
            <a:ext cx="7680960" cy="1828800"/>
          </a:xfrm>
          <a:prstGeom prst="roundRect">
            <a:avLst>
              <a:gd name="adj" fmla="val 6000"/>
            </a:avLst>
          </a:prstGeom>
          <a:solidFill>
            <a:srgbClr val="F3F6F8"/>
          </a:solidFill>
          <a:ln w="12700">
            <a:solidFill>
              <a:srgbClr val="E2E9EF"/>
            </a:solidFill>
            <a:prstDash val="solid"/>
          </a:ln>
          <a:effectLst>
            <a:outerShdw sx="100000" sy="100000" kx="0" ky="0" algn="bl" rotWithShape="0" blurRad="152400" dist="25400" dir="5400000">
              <a:srgbClr val="0B1B2B">
                <a:alpha val="13000"/>
              </a:srgbClr>
            </a:outerShdw>
          </a:effectLst>
        </p:spPr>
      </p:sp>
      <p:sp>
        <p:nvSpPr>
          <p:cNvPr id="8" name="Text 6"/>
          <p:cNvSpPr/>
          <p:nvPr/>
        </p:nvSpPr>
        <p:spPr>
          <a:xfrm>
            <a:off x="4160520" y="2880360"/>
            <a:ext cx="2651760" cy="320040"/>
          </a:xfrm>
          <a:prstGeom prst="rect">
            <a:avLst/>
          </a:prstGeom>
          <a:noFill/>
          <a:ln/>
        </p:spPr>
        <p:txBody>
          <a:bodyPr wrap="square" lIns="0" tIns="0" rIns="0" bIns="0" rtlCol="0" anchor="ctr"/>
          <a:lstStyle/>
          <a:p>
            <a:pPr indent="0" marL="0">
              <a:buNone/>
            </a:pPr>
            <a:r>
              <a:rPr lang="en-US" sz="1100" dirty="0">
                <a:solidFill>
                  <a:srgbClr val="5A6B7A"/>
                </a:solidFill>
                <a:latin typeface="Calibri" pitchFamily="34" charset="0"/>
                <a:ea typeface="Calibri" pitchFamily="34" charset="-122"/>
                <a:cs typeface="Calibri" pitchFamily="34" charset="-120"/>
              </a:rPr>
              <a:t>Aufgabe</a:t>
            </a:r>
            <a:endParaRPr lang="en-US" sz="1100" dirty="0"/>
          </a:p>
        </p:txBody>
      </p:sp>
      <p:sp>
        <p:nvSpPr>
          <p:cNvPr id="9" name="Text 7"/>
          <p:cNvSpPr/>
          <p:nvPr/>
        </p:nvSpPr>
        <p:spPr>
          <a:xfrm>
            <a:off x="4160520" y="3264408"/>
            <a:ext cx="2651760" cy="50292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Sicherheitsbeauftragte:r</a:t>
            </a:r>
            <a:endParaRPr lang="en-US" sz="1500" dirty="0"/>
          </a:p>
        </p:txBody>
      </p:sp>
      <p:sp>
        <p:nvSpPr>
          <p:cNvPr id="10" name="Text 8"/>
          <p:cNvSpPr/>
          <p:nvPr/>
        </p:nvSpPr>
        <p:spPr>
          <a:xfrm>
            <a:off x="6949440" y="2880360"/>
            <a:ext cx="1280160" cy="320040"/>
          </a:xfrm>
          <a:prstGeom prst="rect">
            <a:avLst/>
          </a:prstGeom>
          <a:noFill/>
          <a:ln/>
        </p:spPr>
        <p:txBody>
          <a:bodyPr wrap="square" lIns="0" tIns="0" rIns="0" bIns="0" rtlCol="0" anchor="ctr"/>
          <a:lstStyle/>
          <a:p>
            <a:pPr indent="0" marL="0">
              <a:buNone/>
            </a:pPr>
            <a:r>
              <a:rPr lang="en-US" sz="1100" dirty="0">
                <a:solidFill>
                  <a:srgbClr val="5A6B7A"/>
                </a:solidFill>
                <a:latin typeface="Calibri" pitchFamily="34" charset="0"/>
                <a:ea typeface="Calibri" pitchFamily="34" charset="-122"/>
                <a:cs typeface="Calibri" pitchFamily="34" charset="-120"/>
              </a:rPr>
              <a:t>gewährt</a:t>
            </a:r>
            <a:endParaRPr lang="en-US" sz="1100" dirty="0"/>
          </a:p>
        </p:txBody>
      </p:sp>
      <p:sp>
        <p:nvSpPr>
          <p:cNvPr id="11" name="Text 9"/>
          <p:cNvSpPr/>
          <p:nvPr/>
        </p:nvSpPr>
        <p:spPr>
          <a:xfrm>
            <a:off x="6949440" y="3264408"/>
            <a:ext cx="1280160" cy="50292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1 Std./Woche</a:t>
            </a:r>
            <a:endParaRPr lang="en-US" sz="1500" dirty="0"/>
          </a:p>
        </p:txBody>
      </p:sp>
      <p:sp>
        <p:nvSpPr>
          <p:cNvPr id="12" name="Text 10"/>
          <p:cNvSpPr/>
          <p:nvPr/>
        </p:nvSpPr>
        <p:spPr>
          <a:xfrm>
            <a:off x="8366760" y="2880360"/>
            <a:ext cx="1188720" cy="320040"/>
          </a:xfrm>
          <a:prstGeom prst="rect">
            <a:avLst/>
          </a:prstGeom>
          <a:noFill/>
          <a:ln/>
        </p:spPr>
        <p:txBody>
          <a:bodyPr wrap="square" lIns="0" tIns="0" rIns="0" bIns="0" rtlCol="0" anchor="ctr"/>
          <a:lstStyle/>
          <a:p>
            <a:pPr indent="0" marL="0">
              <a:buNone/>
            </a:pPr>
            <a:r>
              <a:rPr lang="en-US" sz="1100" dirty="0">
                <a:solidFill>
                  <a:srgbClr val="5A6B7A"/>
                </a:solidFill>
                <a:latin typeface="Calibri" pitchFamily="34" charset="0"/>
                <a:ea typeface="Calibri" pitchFamily="34" charset="-122"/>
                <a:cs typeface="Calibri" pitchFamily="34" charset="-120"/>
              </a:rPr>
              <a:t>entspricht</a:t>
            </a:r>
            <a:endParaRPr lang="en-US" sz="1100" dirty="0"/>
          </a:p>
        </p:txBody>
      </p:sp>
      <p:sp>
        <p:nvSpPr>
          <p:cNvPr id="13" name="Text 11"/>
          <p:cNvSpPr/>
          <p:nvPr/>
        </p:nvSpPr>
        <p:spPr>
          <a:xfrm>
            <a:off x="8366760" y="3264408"/>
            <a:ext cx="1188720" cy="50292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1:31 h</a:t>
            </a:r>
            <a:endParaRPr lang="en-US" sz="1500" dirty="0"/>
          </a:p>
        </p:txBody>
      </p:sp>
      <p:sp>
        <p:nvSpPr>
          <p:cNvPr id="14" name="Text 12"/>
          <p:cNvSpPr/>
          <p:nvPr/>
        </p:nvSpPr>
        <p:spPr>
          <a:xfrm>
            <a:off x="9601200" y="2880360"/>
            <a:ext cx="1097280" cy="320040"/>
          </a:xfrm>
          <a:prstGeom prst="rect">
            <a:avLst/>
          </a:prstGeom>
          <a:noFill/>
          <a:ln/>
        </p:spPr>
        <p:txBody>
          <a:bodyPr wrap="square" lIns="0" tIns="0" rIns="0" bIns="0" rtlCol="0" anchor="ctr"/>
          <a:lstStyle/>
          <a:p>
            <a:pPr indent="0" marL="0">
              <a:buNone/>
            </a:pPr>
            <a:r>
              <a:rPr lang="en-US" sz="1100" dirty="0">
                <a:solidFill>
                  <a:srgbClr val="5A6B7A"/>
                </a:solidFill>
                <a:latin typeface="Calibri" pitchFamily="34" charset="0"/>
                <a:ea typeface="Calibri" pitchFamily="34" charset="-122"/>
                <a:cs typeface="Calibri" pitchFamily="34" charset="-120"/>
              </a:rPr>
              <a:t>erfasst</a:t>
            </a:r>
            <a:endParaRPr lang="en-US" sz="1100" dirty="0"/>
          </a:p>
        </p:txBody>
      </p:sp>
      <p:sp>
        <p:nvSpPr>
          <p:cNvPr id="15" name="Text 13"/>
          <p:cNvSpPr/>
          <p:nvPr/>
        </p:nvSpPr>
        <p:spPr>
          <a:xfrm>
            <a:off x="9601200" y="3264408"/>
            <a:ext cx="1097280" cy="50292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3:00 h</a:t>
            </a:r>
            <a:endParaRPr lang="en-US" sz="1500" dirty="0"/>
          </a:p>
        </p:txBody>
      </p:sp>
      <p:sp>
        <p:nvSpPr>
          <p:cNvPr id="16" name="Text 14"/>
          <p:cNvSpPr/>
          <p:nvPr/>
        </p:nvSpPr>
        <p:spPr>
          <a:xfrm>
            <a:off x="10744200" y="2880360"/>
            <a:ext cx="777240" cy="320040"/>
          </a:xfrm>
          <a:prstGeom prst="rect">
            <a:avLst/>
          </a:prstGeom>
          <a:noFill/>
          <a:ln/>
        </p:spPr>
        <p:txBody>
          <a:bodyPr wrap="square" lIns="0" tIns="0" rIns="0" bIns="0" rtlCol="0" anchor="ctr"/>
          <a:lstStyle/>
          <a:p>
            <a:pPr indent="0" marL="0">
              <a:buNone/>
            </a:pPr>
            <a:r>
              <a:rPr lang="en-US" sz="1100" dirty="0">
                <a:solidFill>
                  <a:srgbClr val="5A6B7A"/>
                </a:solidFill>
                <a:latin typeface="Calibri" pitchFamily="34" charset="0"/>
                <a:ea typeface="Calibri" pitchFamily="34" charset="-122"/>
                <a:cs typeface="Calibri" pitchFamily="34" charset="-120"/>
              </a:rPr>
              <a:t>Differenz</a:t>
            </a:r>
            <a:endParaRPr lang="en-US" sz="1100" dirty="0"/>
          </a:p>
        </p:txBody>
      </p:sp>
      <p:sp>
        <p:nvSpPr>
          <p:cNvPr id="17" name="Text 15"/>
          <p:cNvSpPr/>
          <p:nvPr/>
        </p:nvSpPr>
        <p:spPr>
          <a:xfrm>
            <a:off x="10744200" y="3264408"/>
            <a:ext cx="777240" cy="502920"/>
          </a:xfrm>
          <a:prstGeom prst="rect">
            <a:avLst/>
          </a:prstGeom>
          <a:noFill/>
          <a:ln/>
        </p:spPr>
        <p:txBody>
          <a:bodyPr wrap="square" lIns="0" tIns="0" rIns="0" bIns="0" rtlCol="0" anchor="ctr"/>
          <a:lstStyle/>
          <a:p>
            <a:pPr indent="0" marL="0">
              <a:buNone/>
            </a:pPr>
            <a:r>
              <a:rPr lang="en-US" sz="2000" b="1" dirty="0">
                <a:solidFill>
                  <a:srgbClr val="C05621"/>
                </a:solidFill>
                <a:latin typeface="Calibri" pitchFamily="34" charset="0"/>
                <a:ea typeface="Calibri" pitchFamily="34" charset="-122"/>
                <a:cs typeface="Calibri" pitchFamily="34" charset="-120"/>
              </a:rPr>
              <a:t>+1:29 h</a:t>
            </a:r>
            <a:endParaRPr lang="en-US" sz="2000" dirty="0"/>
          </a:p>
        </p:txBody>
      </p:sp>
      <p:sp>
        <p:nvSpPr>
          <p:cNvPr id="18" name="Text 16"/>
          <p:cNvSpPr/>
          <p:nvPr/>
        </p:nvSpPr>
        <p:spPr>
          <a:xfrm>
            <a:off x="4160520" y="3886200"/>
            <a:ext cx="7315200" cy="365760"/>
          </a:xfrm>
          <a:prstGeom prst="rect">
            <a:avLst/>
          </a:prstGeom>
          <a:noFill/>
          <a:ln/>
        </p:spPr>
        <p:txBody>
          <a:bodyPr wrap="square" lIns="0" tIns="0" rIns="0" bIns="0" rtlCol="0" anchor="ctr"/>
          <a:lstStyle/>
          <a:p>
            <a:pPr indent="0" marL="0">
              <a:buNone/>
            </a:pPr>
            <a:r>
              <a:rPr lang="en-US" sz="1250" i="1" dirty="0">
                <a:solidFill>
                  <a:srgbClr val="5A6B7A"/>
                </a:solidFill>
                <a:latin typeface="Calibri" pitchFamily="34" charset="0"/>
                <a:ea typeface="Calibri" pitchFamily="34" charset="-122"/>
                <a:cs typeface="Calibri" pitchFamily="34" charset="-120"/>
              </a:rPr>
              <a:t>Die gewährte Stunde deckt gut die Hälfte des tatsächlichen Aufwands.</a:t>
            </a:r>
            <a:endParaRPr lang="en-US" sz="1250" dirty="0"/>
          </a:p>
        </p:txBody>
      </p:sp>
      <p:sp>
        <p:nvSpPr>
          <p:cNvPr id="19" name="Shape 17"/>
          <p:cNvSpPr/>
          <p:nvPr/>
        </p:nvSpPr>
        <p:spPr>
          <a:xfrm>
            <a:off x="566928" y="4709160"/>
            <a:ext cx="10607040" cy="1691640"/>
          </a:xfrm>
          <a:prstGeom prst="roundRect">
            <a:avLst>
              <a:gd name="adj" fmla="val 6486"/>
            </a:avLst>
          </a:prstGeom>
          <a:solidFill>
            <a:srgbClr val="F3F6F8"/>
          </a:solidFill>
          <a:ln w="12700">
            <a:solidFill>
              <a:srgbClr val="E2E9EF"/>
            </a:solidFill>
            <a:prstDash val="solid"/>
          </a:ln>
          <a:effectLst>
            <a:outerShdw sx="100000" sy="100000" kx="0" ky="0" algn="bl" rotWithShape="0" blurRad="152400" dist="25400" dir="5400000">
              <a:srgbClr val="0B1B2B">
                <a:alpha val="13000"/>
              </a:srgbClr>
            </a:outerShdw>
          </a:effectLst>
        </p:spPr>
      </p:sp>
      <p:sp>
        <p:nvSpPr>
          <p:cNvPr id="20" name="Shape 18"/>
          <p:cNvSpPr/>
          <p:nvPr/>
        </p:nvSpPr>
        <p:spPr>
          <a:xfrm>
            <a:off x="822960" y="4946904"/>
            <a:ext cx="475488" cy="475488"/>
          </a:xfrm>
          <a:prstGeom prst="ellipse">
            <a:avLst/>
          </a:prstGeom>
          <a:solidFill>
            <a:srgbClr val="065A82"/>
          </a:solidFill>
          <a:ln w="12700">
            <a:solidFill>
              <a:srgbClr val="065A82"/>
            </a:solidFill>
            <a:prstDash val="solid"/>
          </a:ln>
        </p:spPr>
      </p:sp>
      <p:sp>
        <p:nvSpPr>
          <p:cNvPr id="21" name="Text 19"/>
          <p:cNvSpPr/>
          <p:nvPr/>
        </p:nvSpPr>
        <p:spPr>
          <a:xfrm>
            <a:off x="822960" y="494690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822960" y="5550408"/>
            <a:ext cx="10094976" cy="365760"/>
          </a:xfrm>
          <a:prstGeom prst="rect">
            <a:avLst/>
          </a:prstGeom>
          <a:noFill/>
          <a:ln/>
        </p:spPr>
        <p:txBody>
          <a:bodyPr wrap="square" lIns="0" tIns="0" rIns="0" bIns="0" rtlCol="0" anchor="t"/>
          <a:lstStyle/>
          <a:p>
            <a:pPr indent="0" marL="0">
              <a:buNone/>
            </a:pPr>
            <a:r>
              <a:rPr lang="en-US" sz="1600" b="1" dirty="0">
                <a:solidFill>
                  <a:srgbClr val="21295C"/>
                </a:solidFill>
                <a:latin typeface="Calibri" pitchFamily="34" charset="0"/>
                <a:ea typeface="Calibri" pitchFamily="34" charset="-122"/>
                <a:cs typeface="Calibri" pitchFamily="34" charset="-120"/>
              </a:rPr>
              <a:t>Wichtig: Ermäßigungsstunden senken die Unterrichtsverpflichtung, nicht die Arbeitszeit</a:t>
            </a:r>
            <a:endParaRPr lang="en-US" sz="1600" dirty="0"/>
          </a:p>
        </p:txBody>
      </p:sp>
      <p:sp>
        <p:nvSpPr>
          <p:cNvPr id="23" name="Text 21"/>
          <p:cNvSpPr/>
          <p:nvPr/>
        </p:nvSpPr>
        <p:spPr>
          <a:xfrm>
            <a:off x="822960" y="5934456"/>
            <a:ext cx="10094976" cy="356616"/>
          </a:xfrm>
          <a:prstGeom prst="rect">
            <a:avLst/>
          </a:prstGeom>
          <a:noFill/>
          <a:ln/>
        </p:spPr>
        <p:txBody>
          <a:bodyPr wrap="square" lIns="0" tIns="0" rIns="0" bIns="0" rtlCol="0" anchor="t"/>
          <a:lstStyle/>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Wer zwei Stunden weniger unterrichtet, arbeitet keine Minute weniger – die Zeit ist für die Aufgabe vorgesehen. Das Arbeitszeit-Soll bleibt deshalb unverändert.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66928" y="685800"/>
            <a:ext cx="1060704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Wer sieht meine Daten?</a:t>
            </a:r>
            <a:endParaRPr lang="en-US" sz="3600" dirty="0"/>
          </a:p>
        </p:txBody>
      </p:sp>
      <p:sp>
        <p:nvSpPr>
          <p:cNvPr id="3" name="Text 1"/>
          <p:cNvSpPr/>
          <p:nvPr/>
        </p:nvSpPr>
        <p:spPr>
          <a:xfrm>
            <a:off x="566928" y="1463040"/>
            <a:ext cx="10607040" cy="8229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Niemand.</a:t>
            </a:r>
            <a:endParaRPr lang="en-US" sz="4600" dirty="0"/>
          </a:p>
        </p:txBody>
      </p:sp>
      <p:sp>
        <p:nvSpPr>
          <p:cNvPr id="4" name="Shape 2"/>
          <p:cNvSpPr/>
          <p:nvPr/>
        </p:nvSpPr>
        <p:spPr>
          <a:xfrm>
            <a:off x="566928" y="2697480"/>
            <a:ext cx="402336" cy="402336"/>
          </a:xfrm>
          <a:prstGeom prst="ellipse">
            <a:avLst/>
          </a:prstGeom>
          <a:solidFill>
            <a:srgbClr val="FFFFFF"/>
          </a:solidFill>
          <a:ln w="12700">
            <a:solidFill>
              <a:srgbClr val="FFFFFF"/>
            </a:solidFill>
            <a:prstDash val="solid"/>
          </a:ln>
        </p:spPr>
      </p:sp>
      <p:sp>
        <p:nvSpPr>
          <p:cNvPr id="5" name="Text 3"/>
          <p:cNvSpPr/>
          <p:nvPr/>
        </p:nvSpPr>
        <p:spPr>
          <a:xfrm>
            <a:off x="566928" y="2697480"/>
            <a:ext cx="402336" cy="402336"/>
          </a:xfrm>
          <a:prstGeom prst="rect">
            <a:avLst/>
          </a:prstGeom>
          <a:noFill/>
          <a:ln/>
        </p:spPr>
        <p:txBody>
          <a:bodyPr wrap="square" lIns="0" tIns="0" rIns="0" bIns="0" rtlCol="0" anchor="ctr"/>
          <a:lstStyle/>
          <a:p>
            <a:pPr algn="ctr" indent="0" marL="0">
              <a:buNone/>
            </a:pPr>
            <a:r>
              <a:rPr lang="en-US" sz="1500" b="1" dirty="0">
                <a:solidFill>
                  <a:srgbClr val="21295C"/>
                </a:solidFill>
                <a:latin typeface="Calibri" pitchFamily="34" charset="0"/>
                <a:ea typeface="Calibri" pitchFamily="34" charset="-122"/>
                <a:cs typeface="Calibri" pitchFamily="34" charset="-120"/>
              </a:rPr>
              <a:t>✓</a:t>
            </a:r>
            <a:endParaRPr lang="en-US" sz="1500" dirty="0"/>
          </a:p>
        </p:txBody>
      </p:sp>
      <p:sp>
        <p:nvSpPr>
          <p:cNvPr id="6" name="Text 4"/>
          <p:cNvSpPr/>
          <p:nvPr/>
        </p:nvSpPr>
        <p:spPr>
          <a:xfrm>
            <a:off x="1133856" y="2606040"/>
            <a:ext cx="4572000" cy="38404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Kein Server</a:t>
            </a:r>
            <a:endParaRPr lang="en-US" sz="1700" dirty="0"/>
          </a:p>
        </p:txBody>
      </p:sp>
      <p:sp>
        <p:nvSpPr>
          <p:cNvPr id="7" name="Text 5"/>
          <p:cNvSpPr/>
          <p:nvPr/>
        </p:nvSpPr>
        <p:spPr>
          <a:xfrm>
            <a:off x="1133856" y="3008376"/>
            <a:ext cx="4572000" cy="658368"/>
          </a:xfrm>
          <a:prstGeom prst="rect">
            <a:avLst/>
          </a:prstGeom>
          <a:noFill/>
          <a:ln/>
        </p:spPr>
        <p:txBody>
          <a:bodyPr wrap="square" lIns="0" tIns="0" rIns="0" bIns="0" rtlCol="0" anchor="t"/>
          <a:lstStyle/>
          <a:p>
            <a:pPr indent="0" marL="0">
              <a:lnSpc>
                <a:spcPct val="115000"/>
              </a:lnSpc>
              <a:buNone/>
            </a:pPr>
            <a:r>
              <a:rPr lang="en-US" sz="1250" dirty="0">
                <a:solidFill>
                  <a:srgbClr val="B8C4D0"/>
                </a:solidFill>
                <a:latin typeface="Calibri" pitchFamily="34" charset="0"/>
                <a:ea typeface="Calibri" pitchFamily="34" charset="-122"/>
                <a:cs typeface="Calibri" pitchFamily="34" charset="-120"/>
              </a:rPr>
              <a:t>Es gibt keine Datenbank, in der etwas landen könnte.</a:t>
            </a:r>
            <a:endParaRPr lang="en-US" sz="1250" dirty="0"/>
          </a:p>
        </p:txBody>
      </p:sp>
      <p:sp>
        <p:nvSpPr>
          <p:cNvPr id="8" name="Shape 6"/>
          <p:cNvSpPr/>
          <p:nvPr/>
        </p:nvSpPr>
        <p:spPr>
          <a:xfrm>
            <a:off x="6135624" y="2697480"/>
            <a:ext cx="402336" cy="402336"/>
          </a:xfrm>
          <a:prstGeom prst="ellipse">
            <a:avLst/>
          </a:prstGeom>
          <a:solidFill>
            <a:srgbClr val="FFFFFF"/>
          </a:solidFill>
          <a:ln w="12700">
            <a:solidFill>
              <a:srgbClr val="FFFFFF"/>
            </a:solidFill>
            <a:prstDash val="solid"/>
          </a:ln>
        </p:spPr>
      </p:sp>
      <p:sp>
        <p:nvSpPr>
          <p:cNvPr id="9" name="Text 7"/>
          <p:cNvSpPr/>
          <p:nvPr/>
        </p:nvSpPr>
        <p:spPr>
          <a:xfrm>
            <a:off x="6135624" y="2697480"/>
            <a:ext cx="402336" cy="402336"/>
          </a:xfrm>
          <a:prstGeom prst="rect">
            <a:avLst/>
          </a:prstGeom>
          <a:noFill/>
          <a:ln/>
        </p:spPr>
        <p:txBody>
          <a:bodyPr wrap="square" lIns="0" tIns="0" rIns="0" bIns="0" rtlCol="0" anchor="ctr"/>
          <a:lstStyle/>
          <a:p>
            <a:pPr algn="ctr" indent="0" marL="0">
              <a:buNone/>
            </a:pPr>
            <a:r>
              <a:rPr lang="en-US" sz="1500" b="1" dirty="0">
                <a:solidFill>
                  <a:srgbClr val="21295C"/>
                </a:solidFill>
                <a:latin typeface="Calibri" pitchFamily="34" charset="0"/>
                <a:ea typeface="Calibri" pitchFamily="34" charset="-122"/>
                <a:cs typeface="Calibri" pitchFamily="34" charset="-120"/>
              </a:rPr>
              <a:t>✓</a:t>
            </a:r>
            <a:endParaRPr lang="en-US" sz="1500" dirty="0"/>
          </a:p>
        </p:txBody>
      </p:sp>
      <p:sp>
        <p:nvSpPr>
          <p:cNvPr id="10" name="Text 8"/>
          <p:cNvSpPr/>
          <p:nvPr/>
        </p:nvSpPr>
        <p:spPr>
          <a:xfrm>
            <a:off x="6702552" y="2606040"/>
            <a:ext cx="4572000" cy="38404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Kein Konto</a:t>
            </a:r>
            <a:endParaRPr lang="en-US" sz="1700" dirty="0"/>
          </a:p>
        </p:txBody>
      </p:sp>
      <p:sp>
        <p:nvSpPr>
          <p:cNvPr id="11" name="Text 9"/>
          <p:cNvSpPr/>
          <p:nvPr/>
        </p:nvSpPr>
        <p:spPr>
          <a:xfrm>
            <a:off x="6702552" y="3008376"/>
            <a:ext cx="4572000" cy="658368"/>
          </a:xfrm>
          <a:prstGeom prst="rect">
            <a:avLst/>
          </a:prstGeom>
          <a:noFill/>
          <a:ln/>
        </p:spPr>
        <p:txBody>
          <a:bodyPr wrap="square" lIns="0" tIns="0" rIns="0" bIns="0" rtlCol="0" anchor="t"/>
          <a:lstStyle/>
          <a:p>
            <a:pPr indent="0" marL="0">
              <a:lnSpc>
                <a:spcPct val="115000"/>
              </a:lnSpc>
              <a:buNone/>
            </a:pPr>
            <a:r>
              <a:rPr lang="en-US" sz="1250" dirty="0">
                <a:solidFill>
                  <a:srgbClr val="B8C4D0"/>
                </a:solidFill>
                <a:latin typeface="Calibri" pitchFamily="34" charset="0"/>
                <a:ea typeface="Calibri" pitchFamily="34" charset="-122"/>
                <a:cs typeface="Calibri" pitchFamily="34" charset="-120"/>
              </a:rPr>
              <a:t>Keine Anmeldung, kein Passwort, kein Tracking, keine Cookies.</a:t>
            </a:r>
            <a:endParaRPr lang="en-US" sz="1250" dirty="0"/>
          </a:p>
        </p:txBody>
      </p:sp>
      <p:sp>
        <p:nvSpPr>
          <p:cNvPr id="12" name="Shape 10"/>
          <p:cNvSpPr/>
          <p:nvPr/>
        </p:nvSpPr>
        <p:spPr>
          <a:xfrm>
            <a:off x="566928" y="4069080"/>
            <a:ext cx="402336" cy="402336"/>
          </a:xfrm>
          <a:prstGeom prst="ellipse">
            <a:avLst/>
          </a:prstGeom>
          <a:solidFill>
            <a:srgbClr val="FFFFFF"/>
          </a:solidFill>
          <a:ln w="12700">
            <a:solidFill>
              <a:srgbClr val="FFFFFF"/>
            </a:solidFill>
            <a:prstDash val="solid"/>
          </a:ln>
        </p:spPr>
      </p:sp>
      <p:sp>
        <p:nvSpPr>
          <p:cNvPr id="13" name="Text 11"/>
          <p:cNvSpPr/>
          <p:nvPr/>
        </p:nvSpPr>
        <p:spPr>
          <a:xfrm>
            <a:off x="566928" y="4069080"/>
            <a:ext cx="402336" cy="402336"/>
          </a:xfrm>
          <a:prstGeom prst="rect">
            <a:avLst/>
          </a:prstGeom>
          <a:noFill/>
          <a:ln/>
        </p:spPr>
        <p:txBody>
          <a:bodyPr wrap="square" lIns="0" tIns="0" rIns="0" bIns="0" rtlCol="0" anchor="ctr"/>
          <a:lstStyle/>
          <a:p>
            <a:pPr algn="ctr" indent="0" marL="0">
              <a:buNone/>
            </a:pPr>
            <a:r>
              <a:rPr lang="en-US" sz="1500" b="1" dirty="0">
                <a:solidFill>
                  <a:srgbClr val="21295C"/>
                </a:solidFill>
                <a:latin typeface="Calibri" pitchFamily="34" charset="0"/>
                <a:ea typeface="Calibri" pitchFamily="34" charset="-122"/>
                <a:cs typeface="Calibri" pitchFamily="34" charset="-120"/>
              </a:rPr>
              <a:t>✓</a:t>
            </a:r>
            <a:endParaRPr lang="en-US" sz="1500" dirty="0"/>
          </a:p>
        </p:txBody>
      </p:sp>
      <p:sp>
        <p:nvSpPr>
          <p:cNvPr id="14" name="Text 12"/>
          <p:cNvSpPr/>
          <p:nvPr/>
        </p:nvSpPr>
        <p:spPr>
          <a:xfrm>
            <a:off x="1133856" y="3977640"/>
            <a:ext cx="4572000" cy="38404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Nur dein Gerät</a:t>
            </a:r>
            <a:endParaRPr lang="en-US" sz="1700" dirty="0"/>
          </a:p>
        </p:txBody>
      </p:sp>
      <p:sp>
        <p:nvSpPr>
          <p:cNvPr id="15" name="Text 13"/>
          <p:cNvSpPr/>
          <p:nvPr/>
        </p:nvSpPr>
        <p:spPr>
          <a:xfrm>
            <a:off x="1133856" y="4379976"/>
            <a:ext cx="4572000" cy="658368"/>
          </a:xfrm>
          <a:prstGeom prst="rect">
            <a:avLst/>
          </a:prstGeom>
          <a:noFill/>
          <a:ln/>
        </p:spPr>
        <p:txBody>
          <a:bodyPr wrap="square" lIns="0" tIns="0" rIns="0" bIns="0" rtlCol="0" anchor="t"/>
          <a:lstStyle/>
          <a:p>
            <a:pPr indent="0" marL="0">
              <a:lnSpc>
                <a:spcPct val="115000"/>
              </a:lnSpc>
              <a:buNone/>
            </a:pPr>
            <a:r>
              <a:rPr lang="en-US" sz="1250" dirty="0">
                <a:solidFill>
                  <a:srgbClr val="B8C4D0"/>
                </a:solidFill>
                <a:latin typeface="Calibri" pitchFamily="34" charset="0"/>
                <a:ea typeface="Calibri" pitchFamily="34" charset="-122"/>
                <a:cs typeface="Calibri" pitchFamily="34" charset="-120"/>
              </a:rPr>
              <a:t>Alles liegt im Speicher deines Browsers.</a:t>
            </a:r>
            <a:endParaRPr lang="en-US" sz="1250" dirty="0"/>
          </a:p>
        </p:txBody>
      </p:sp>
      <p:sp>
        <p:nvSpPr>
          <p:cNvPr id="16" name="Shape 14"/>
          <p:cNvSpPr/>
          <p:nvPr/>
        </p:nvSpPr>
        <p:spPr>
          <a:xfrm>
            <a:off x="6135624" y="4069080"/>
            <a:ext cx="402336" cy="402336"/>
          </a:xfrm>
          <a:prstGeom prst="ellipse">
            <a:avLst/>
          </a:prstGeom>
          <a:solidFill>
            <a:srgbClr val="FFFFFF"/>
          </a:solidFill>
          <a:ln w="12700">
            <a:solidFill>
              <a:srgbClr val="FFFFFF"/>
            </a:solidFill>
            <a:prstDash val="solid"/>
          </a:ln>
        </p:spPr>
      </p:sp>
      <p:sp>
        <p:nvSpPr>
          <p:cNvPr id="17" name="Text 15"/>
          <p:cNvSpPr/>
          <p:nvPr/>
        </p:nvSpPr>
        <p:spPr>
          <a:xfrm>
            <a:off x="6135624" y="4069080"/>
            <a:ext cx="402336" cy="402336"/>
          </a:xfrm>
          <a:prstGeom prst="rect">
            <a:avLst/>
          </a:prstGeom>
          <a:noFill/>
          <a:ln/>
        </p:spPr>
        <p:txBody>
          <a:bodyPr wrap="square" lIns="0" tIns="0" rIns="0" bIns="0" rtlCol="0" anchor="ctr"/>
          <a:lstStyle/>
          <a:p>
            <a:pPr algn="ctr" indent="0" marL="0">
              <a:buNone/>
            </a:pPr>
            <a:r>
              <a:rPr lang="en-US" sz="1500" b="1" dirty="0">
                <a:solidFill>
                  <a:srgbClr val="21295C"/>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6702552" y="3977640"/>
            <a:ext cx="4572000" cy="38404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Keine Einsicht</a:t>
            </a:r>
            <a:endParaRPr lang="en-US" sz="1700" dirty="0"/>
          </a:p>
        </p:txBody>
      </p:sp>
      <p:sp>
        <p:nvSpPr>
          <p:cNvPr id="19" name="Text 17"/>
          <p:cNvSpPr/>
          <p:nvPr/>
        </p:nvSpPr>
        <p:spPr>
          <a:xfrm>
            <a:off x="6702552" y="4379976"/>
            <a:ext cx="4572000" cy="658368"/>
          </a:xfrm>
          <a:prstGeom prst="rect">
            <a:avLst/>
          </a:prstGeom>
          <a:noFill/>
          <a:ln/>
        </p:spPr>
        <p:txBody>
          <a:bodyPr wrap="square" lIns="0" tIns="0" rIns="0" bIns="0" rtlCol="0" anchor="t"/>
          <a:lstStyle/>
          <a:p>
            <a:pPr indent="0" marL="0">
              <a:lnSpc>
                <a:spcPct val="115000"/>
              </a:lnSpc>
              <a:buNone/>
            </a:pPr>
            <a:r>
              <a:rPr lang="en-US" sz="1250" dirty="0">
                <a:solidFill>
                  <a:srgbClr val="B8C4D0"/>
                </a:solidFill>
                <a:latin typeface="Calibri" pitchFamily="34" charset="0"/>
                <a:ea typeface="Calibri" pitchFamily="34" charset="-122"/>
                <a:cs typeface="Calibri" pitchFamily="34" charset="-120"/>
              </a:rPr>
              <a:t>Die Schulleitung hat keinen Zugriff – es gibt nichts zuzugreifen.</a:t>
            </a:r>
            <a:endParaRPr lang="en-US" sz="1250" dirty="0"/>
          </a:p>
        </p:txBody>
      </p:sp>
      <p:sp>
        <p:nvSpPr>
          <p:cNvPr id="20" name="Text 18"/>
          <p:cNvSpPr/>
          <p:nvPr/>
        </p:nvSpPr>
        <p:spPr>
          <a:xfrm>
            <a:off x="566928" y="5623560"/>
            <a:ext cx="10607040" cy="457200"/>
          </a:xfrm>
          <a:prstGeom prst="rect">
            <a:avLst/>
          </a:prstGeom>
          <a:noFill/>
          <a:ln/>
        </p:spPr>
        <p:txBody>
          <a:bodyPr wrap="square" lIns="0" tIns="0" rIns="0" bIns="0" rtlCol="0" anchor="ctr"/>
          <a:lstStyle/>
          <a:p>
            <a:pPr indent="0" marL="0">
              <a:buNone/>
            </a:pPr>
            <a:r>
              <a:rPr lang="en-US" sz="1350" i="1" dirty="0">
                <a:solidFill>
                  <a:srgbClr val="B8C4D0"/>
                </a:solidFill>
                <a:latin typeface="Calibri" pitchFamily="34" charset="0"/>
                <a:ea typeface="Calibri" pitchFamily="34" charset="-122"/>
                <a:cs typeface="Calibri" pitchFamily="34" charset="-120"/>
              </a:rPr>
              <a:t>Der Preis dafür: Es gibt auch keine automatische Sicherung. Ein Backup pro Halbjahr ist Pflicht.</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11480"/>
            <a:ext cx="11055096" cy="658368"/>
          </a:xfrm>
          <a:prstGeom prst="rect">
            <a:avLst/>
          </a:prstGeom>
          <a:noFill/>
          <a:ln/>
        </p:spPr>
        <p:txBody>
          <a:bodyPr wrap="square" lIns="0" tIns="0" rIns="0" bIns="0"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Aus vielen Einzelfällen wird ein Befund</a:t>
            </a:r>
            <a:endParaRPr lang="en-US" sz="3400" dirty="0"/>
          </a:p>
        </p:txBody>
      </p:sp>
      <p:sp>
        <p:nvSpPr>
          <p:cNvPr id="3" name="Text 1"/>
          <p:cNvSpPr/>
          <p:nvPr/>
        </p:nvSpPr>
        <p:spPr>
          <a:xfrm>
            <a:off x="566928" y="1078992"/>
            <a:ext cx="11055096" cy="365760"/>
          </a:xfrm>
          <a:prstGeom prst="rect">
            <a:avLst/>
          </a:prstGeom>
          <a:noFill/>
          <a:ln/>
        </p:spPr>
        <p:txBody>
          <a:bodyPr wrap="square" lIns="0" tIns="0" rIns="0" bIns="0" rtlCol="0" anchor="ctr"/>
          <a:lstStyle/>
          <a:p>
            <a:pPr indent="0" marL="0">
              <a:buNone/>
            </a:pPr>
            <a:r>
              <a:rPr lang="en-US" sz="1500" dirty="0">
                <a:solidFill>
                  <a:srgbClr val="5A6B7A"/>
                </a:solidFill>
                <a:latin typeface="Calibri" pitchFamily="34" charset="0"/>
                <a:ea typeface="Calibri" pitchFamily="34" charset="-122"/>
                <a:cs typeface="Calibri" pitchFamily="34" charset="-120"/>
              </a:rPr>
              <a:t>Freiwillig, anonym – und nur, wenn genug mitmachen</a:t>
            </a:r>
            <a:endParaRPr lang="en-US" sz="1500" dirty="0"/>
          </a:p>
        </p:txBody>
      </p:sp>
      <p:sp>
        <p:nvSpPr>
          <p:cNvPr id="4" name="Text 2"/>
          <p:cNvSpPr/>
          <p:nvPr/>
        </p:nvSpPr>
        <p:spPr>
          <a:xfrm>
            <a:off x="566928" y="1691640"/>
            <a:ext cx="10607040" cy="640080"/>
          </a:xfrm>
          <a:prstGeom prst="rect">
            <a:avLst/>
          </a:prstGeom>
          <a:noFill/>
          <a:ln/>
        </p:spPr>
        <p:txBody>
          <a:bodyPr wrap="square" lIns="0" tIns="0" rIns="0" bIns="0" rtlCol="0" anchor="ctr"/>
          <a:lstStyle/>
          <a:p>
            <a:pPr indent="0" marL="0">
              <a:lnSpc>
                <a:spcPct val="125000"/>
              </a:lnSpc>
              <a:buNone/>
            </a:pPr>
            <a:r>
              <a:rPr lang="en-US" sz="1500" dirty="0">
                <a:solidFill>
                  <a:srgbClr val="1B2430"/>
                </a:solidFill>
                <a:latin typeface="Calibri" pitchFamily="34" charset="0"/>
                <a:ea typeface="Calibri" pitchFamily="34" charset="-122"/>
                <a:cs typeface="Calibri" pitchFamily="34" charset="-120"/>
              </a:rPr>
              <a:t>Eine einzelne Dokumentation ist ein Einzelfall. Zwanzig sind ein Befund. Wer möchte, kann deshalb zusätzlich eine anonyme Kennzahlen-Datei abgeben.</a:t>
            </a:r>
            <a:endParaRPr lang="en-US" sz="1500" dirty="0"/>
          </a:p>
        </p:txBody>
      </p:sp>
      <p:sp>
        <p:nvSpPr>
          <p:cNvPr id="5" name="Shape 3"/>
          <p:cNvSpPr/>
          <p:nvPr/>
        </p:nvSpPr>
        <p:spPr>
          <a:xfrm>
            <a:off x="566928" y="2468880"/>
            <a:ext cx="5257800" cy="1783080"/>
          </a:xfrm>
          <a:prstGeom prst="roundRect">
            <a:avLst>
              <a:gd name="adj" fmla="val 6154"/>
            </a:avLst>
          </a:prstGeom>
          <a:solidFill>
            <a:srgbClr val="F3F6F8"/>
          </a:solidFill>
          <a:ln w="12700">
            <a:solidFill>
              <a:srgbClr val="E2E9EF"/>
            </a:solidFill>
            <a:prstDash val="solid"/>
          </a:ln>
          <a:effectLst>
            <a:outerShdw sx="100000" sy="100000" kx="0" ky="0" algn="bl" rotWithShape="0" blurRad="152400" dist="25400" dir="5400000">
              <a:srgbClr val="0B1B2B">
                <a:alpha val="13000"/>
              </a:srgbClr>
            </a:outerShdw>
          </a:effectLst>
        </p:spPr>
      </p:sp>
      <p:sp>
        <p:nvSpPr>
          <p:cNvPr id="6" name="Text 4"/>
          <p:cNvSpPr/>
          <p:nvPr/>
        </p:nvSpPr>
        <p:spPr>
          <a:xfrm>
            <a:off x="822960" y="2679192"/>
            <a:ext cx="4754880" cy="36576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In der Datei stehen</a:t>
            </a:r>
            <a:endParaRPr lang="en-US" sz="1500" dirty="0"/>
          </a:p>
        </p:txBody>
      </p:sp>
      <p:sp>
        <p:nvSpPr>
          <p:cNvPr id="7" name="Text 5"/>
          <p:cNvSpPr/>
          <p:nvPr/>
        </p:nvSpPr>
        <p:spPr>
          <a:xfrm>
            <a:off x="822960" y="3081528"/>
            <a:ext cx="4754880" cy="10972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5A6B7A"/>
                </a:solidFill>
                <a:latin typeface="Calibri" pitchFamily="34" charset="0"/>
                <a:ea typeface="Calibri" pitchFamily="34" charset="-122"/>
                <a:cs typeface="Calibri" pitchFamily="34" charset="-120"/>
              </a:rPr>
              <a:t>Beschäftigungsumfang in Prozent</a:t>
            </a:r>
            <a:endParaRPr lang="en-US" sz="1250" dirty="0"/>
          </a:p>
          <a:p>
            <a:pPr marL="342900" indent="-342900">
              <a:spcAft>
                <a:spcPts val="800"/>
              </a:spcAft>
              <a:buSzPct val="100000"/>
              <a:buChar char="•"/>
            </a:pPr>
            <a:r>
              <a:rPr lang="en-US" sz="1250" dirty="0">
                <a:solidFill>
                  <a:srgbClr val="5A6B7A"/>
                </a:solidFill>
                <a:latin typeface="Calibri" pitchFamily="34" charset="0"/>
                <a:ea typeface="Calibri" pitchFamily="34" charset="-122"/>
                <a:cs typeface="Calibri" pitchFamily="34" charset="-120"/>
              </a:rPr>
              <a:t>Soll- und Ist-Stunden, Saldo</a:t>
            </a:r>
            <a:endParaRPr lang="en-US" sz="1250" dirty="0"/>
          </a:p>
          <a:p>
            <a:pPr marL="342900" indent="-342900">
              <a:spcAft>
                <a:spcPts val="800"/>
              </a:spcAft>
              <a:buSzPct val="100000"/>
              <a:buChar char="•"/>
            </a:pPr>
            <a:r>
              <a:rPr lang="en-US" sz="1250" dirty="0">
                <a:solidFill>
                  <a:srgbClr val="5A6B7A"/>
                </a:solidFill>
                <a:latin typeface="Calibri" pitchFamily="34" charset="0"/>
                <a:ea typeface="Calibri" pitchFamily="34" charset="-122"/>
                <a:cs typeface="Calibri" pitchFamily="34" charset="-120"/>
              </a:rPr>
              <a:t>Summen je Kategorie und Woche</a:t>
            </a:r>
            <a:endParaRPr lang="en-US" sz="1250" dirty="0"/>
          </a:p>
          <a:p>
            <a:pPr marL="342900" indent="-342900">
              <a:spcAft>
                <a:spcPts val="800"/>
              </a:spcAft>
              <a:buSzPct val="100000"/>
              <a:buChar char="•"/>
            </a:pPr>
            <a:r>
              <a:rPr lang="en-US" sz="1250" dirty="0">
                <a:solidFill>
                  <a:srgbClr val="5A6B7A"/>
                </a:solidFill>
                <a:latin typeface="Calibri" pitchFamily="34" charset="0"/>
                <a:ea typeface="Calibri" pitchFamily="34" charset="-122"/>
                <a:cs typeface="Calibri" pitchFamily="34" charset="-120"/>
              </a:rPr>
              <a:t>ein jedes Mal neu gewürfeltes Pseudonym</a:t>
            </a:r>
            <a:endParaRPr lang="en-US" sz="1250" dirty="0"/>
          </a:p>
        </p:txBody>
      </p:sp>
      <p:sp>
        <p:nvSpPr>
          <p:cNvPr id="8" name="Shape 6"/>
          <p:cNvSpPr/>
          <p:nvPr/>
        </p:nvSpPr>
        <p:spPr>
          <a:xfrm>
            <a:off x="6135624" y="2468880"/>
            <a:ext cx="5257800" cy="1783080"/>
          </a:xfrm>
          <a:prstGeom prst="roundRect">
            <a:avLst>
              <a:gd name="adj" fmla="val 6154"/>
            </a:avLst>
          </a:prstGeom>
          <a:solidFill>
            <a:srgbClr val="065A82"/>
          </a:solidFill>
          <a:ln w="12700">
            <a:solidFill>
              <a:srgbClr val="065A82"/>
            </a:solidFill>
            <a:prstDash val="solid"/>
          </a:ln>
          <a:effectLst>
            <a:outerShdw sx="100000" sy="100000" kx="0" ky="0" algn="bl" rotWithShape="0" blurRad="152400" dist="25400" dir="5400000">
              <a:srgbClr val="0B1B2B">
                <a:alpha val="13000"/>
              </a:srgbClr>
            </a:outerShdw>
          </a:effectLst>
        </p:spPr>
      </p:sp>
      <p:sp>
        <p:nvSpPr>
          <p:cNvPr id="9" name="Text 7"/>
          <p:cNvSpPr/>
          <p:nvPr/>
        </p:nvSpPr>
        <p:spPr>
          <a:xfrm>
            <a:off x="6391656" y="2679192"/>
            <a:ext cx="47548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Nicht in der Datei</a:t>
            </a:r>
            <a:endParaRPr lang="en-US" sz="1500" dirty="0"/>
          </a:p>
        </p:txBody>
      </p:sp>
      <p:sp>
        <p:nvSpPr>
          <p:cNvPr id="10" name="Text 8"/>
          <p:cNvSpPr/>
          <p:nvPr/>
        </p:nvSpPr>
        <p:spPr>
          <a:xfrm>
            <a:off x="6391656" y="3081528"/>
            <a:ext cx="4754880" cy="10972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B8C4D0"/>
                </a:solidFill>
                <a:latin typeface="Calibri" pitchFamily="34" charset="0"/>
                <a:ea typeface="Calibri" pitchFamily="34" charset="-122"/>
                <a:cs typeface="Calibri" pitchFamily="34" charset="-120"/>
              </a:rPr>
              <a:t>Name, Fächer, Klassen</a:t>
            </a:r>
            <a:endParaRPr lang="en-US" sz="1250" dirty="0"/>
          </a:p>
          <a:p>
            <a:pPr marL="342900" indent="-342900">
              <a:spcAft>
                <a:spcPts val="800"/>
              </a:spcAft>
              <a:buSzPct val="100000"/>
              <a:buChar char="•"/>
            </a:pPr>
            <a:r>
              <a:rPr lang="en-US" sz="1250" dirty="0">
                <a:solidFill>
                  <a:srgbClr val="B8C4D0"/>
                </a:solidFill>
                <a:latin typeface="Calibri" pitchFamily="34" charset="0"/>
                <a:ea typeface="Calibri" pitchFamily="34" charset="-122"/>
                <a:cs typeface="Calibri" pitchFamily="34" charset="-120"/>
              </a:rPr>
              <a:t>Notizen und einzelne Einträge</a:t>
            </a:r>
            <a:endParaRPr lang="en-US" sz="1250" dirty="0"/>
          </a:p>
          <a:p>
            <a:pPr marL="342900" indent="-342900">
              <a:spcAft>
                <a:spcPts val="800"/>
              </a:spcAft>
              <a:buSzPct val="100000"/>
              <a:buChar char="•"/>
            </a:pPr>
            <a:r>
              <a:rPr lang="en-US" sz="1250" dirty="0">
                <a:solidFill>
                  <a:srgbClr val="B8C4D0"/>
                </a:solidFill>
                <a:latin typeface="Calibri" pitchFamily="34" charset="0"/>
                <a:ea typeface="Calibri" pitchFamily="34" charset="-122"/>
                <a:cs typeface="Calibri" pitchFamily="34" charset="-120"/>
              </a:rPr>
              <a:t>einzelne Tage und Uhrzeiten</a:t>
            </a:r>
            <a:endParaRPr lang="en-US" sz="1250" dirty="0"/>
          </a:p>
          <a:p>
            <a:pPr marL="342900" indent="-342900">
              <a:spcAft>
                <a:spcPts val="800"/>
              </a:spcAft>
              <a:buSzPct val="100000"/>
              <a:buChar char="•"/>
            </a:pPr>
            <a:r>
              <a:rPr lang="en-US" sz="1250" dirty="0">
                <a:solidFill>
                  <a:srgbClr val="B8C4D0"/>
                </a:solidFill>
                <a:latin typeface="Calibri" pitchFamily="34" charset="0"/>
                <a:ea typeface="Calibri" pitchFamily="34" charset="-122"/>
                <a:cs typeface="Calibri" pitchFamily="34" charset="-120"/>
              </a:rPr>
              <a:t>die Liste der Funktionsaufgaben</a:t>
            </a:r>
            <a:endParaRPr lang="en-US" sz="1250" dirty="0"/>
          </a:p>
        </p:txBody>
      </p:sp>
      <p:sp>
        <p:nvSpPr>
          <p:cNvPr id="11" name="Shape 9"/>
          <p:cNvSpPr/>
          <p:nvPr/>
        </p:nvSpPr>
        <p:spPr>
          <a:xfrm>
            <a:off x="566928" y="4526280"/>
            <a:ext cx="10607040" cy="1783080"/>
          </a:xfrm>
          <a:prstGeom prst="roundRect">
            <a:avLst>
              <a:gd name="adj" fmla="val 6154"/>
            </a:avLst>
          </a:prstGeom>
          <a:solidFill>
            <a:srgbClr val="F3F6F8"/>
          </a:solidFill>
          <a:ln w="12700">
            <a:solidFill>
              <a:srgbClr val="E2E9EF"/>
            </a:solidFill>
            <a:prstDash val="solid"/>
          </a:ln>
          <a:effectLst>
            <a:outerShdw sx="100000" sy="100000" kx="0" ky="0" algn="bl" rotWithShape="0" blurRad="152400" dist="25400" dir="5400000">
              <a:srgbClr val="0B1B2B">
                <a:alpha val="13000"/>
              </a:srgbClr>
            </a:outerShdw>
          </a:effectLst>
        </p:spPr>
      </p:sp>
      <p:sp>
        <p:nvSpPr>
          <p:cNvPr id="12" name="Shape 10"/>
          <p:cNvSpPr/>
          <p:nvPr/>
        </p:nvSpPr>
        <p:spPr>
          <a:xfrm>
            <a:off x="822960" y="4764024"/>
            <a:ext cx="475488" cy="475488"/>
          </a:xfrm>
          <a:prstGeom prst="ellipse">
            <a:avLst/>
          </a:prstGeom>
          <a:solidFill>
            <a:srgbClr val="065A82"/>
          </a:solidFill>
          <a:ln w="12700">
            <a:solidFill>
              <a:srgbClr val="065A82"/>
            </a:solidFill>
            <a:prstDash val="solid"/>
          </a:ln>
        </p:spPr>
      </p:sp>
      <p:sp>
        <p:nvSpPr>
          <p:cNvPr id="13" name="Text 11"/>
          <p:cNvSpPr/>
          <p:nvPr/>
        </p:nvSpPr>
        <p:spPr>
          <a:xfrm>
            <a:off x="822960" y="476402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4" name="Text 12"/>
          <p:cNvSpPr/>
          <p:nvPr/>
        </p:nvSpPr>
        <p:spPr>
          <a:xfrm>
            <a:off x="822960" y="5367528"/>
            <a:ext cx="10094976" cy="365760"/>
          </a:xfrm>
          <a:prstGeom prst="rect">
            <a:avLst/>
          </a:prstGeom>
          <a:noFill/>
          <a:ln/>
        </p:spPr>
        <p:txBody>
          <a:bodyPr wrap="square" lIns="0" tIns="0" rIns="0" bIns="0" rtlCol="0" anchor="t"/>
          <a:lstStyle/>
          <a:p>
            <a:pPr indent="0" marL="0">
              <a:buNone/>
            </a:pPr>
            <a:r>
              <a:rPr lang="en-US" sz="1600" b="1" dirty="0">
                <a:solidFill>
                  <a:srgbClr val="21295C"/>
                </a:solidFill>
                <a:latin typeface="Calibri" pitchFamily="34" charset="0"/>
                <a:ea typeface="Calibri" pitchFamily="34" charset="-122"/>
                <a:cs typeface="Calibri" pitchFamily="34" charset="-120"/>
              </a:rPr>
              <a:t>Erst ab etwa fünf Beiträgen zeigen</a:t>
            </a:r>
            <a:endParaRPr lang="en-US" sz="1600" dirty="0"/>
          </a:p>
        </p:txBody>
      </p:sp>
      <p:sp>
        <p:nvSpPr>
          <p:cNvPr id="15" name="Text 13"/>
          <p:cNvSpPr/>
          <p:nvPr/>
        </p:nvSpPr>
        <p:spPr>
          <a:xfrm>
            <a:off x="822960" y="5751576"/>
            <a:ext cx="10094976" cy="448056"/>
          </a:xfrm>
          <a:prstGeom prst="rect">
            <a:avLst/>
          </a:prstGeom>
          <a:noFill/>
          <a:ln/>
        </p:spPr>
        <p:txBody>
          <a:bodyPr wrap="square" lIns="0" tIns="0" rIns="0" bIns="0" rtlCol="0" anchor="t"/>
          <a:lstStyle/>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Bei kleinen Gruppen kann schon der Beschäftigungsumfang jemanden erkennbar machen. Das Werkzeug warnt darunter ausdrücklich. Vor einer Gesamtauswertung: mit dem Personalrat sprechen.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11480"/>
            <a:ext cx="11055096" cy="658368"/>
          </a:xfrm>
          <a:prstGeom prst="rect">
            <a:avLst/>
          </a:prstGeom>
          <a:noFill/>
          <a:ln/>
        </p:spPr>
        <p:txBody>
          <a:bodyPr wrap="square" lIns="0" tIns="0" rIns="0" bIns="0"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Was wir davon haben</a:t>
            </a:r>
            <a:endParaRPr lang="en-US" sz="3400" dirty="0"/>
          </a:p>
        </p:txBody>
      </p:sp>
      <p:sp>
        <p:nvSpPr>
          <p:cNvPr id="3" name="Shape 1"/>
          <p:cNvSpPr/>
          <p:nvPr/>
        </p:nvSpPr>
        <p:spPr>
          <a:xfrm>
            <a:off x="566928" y="1600200"/>
            <a:ext cx="5257800" cy="2011680"/>
          </a:xfrm>
          <a:prstGeom prst="roundRect">
            <a:avLst>
              <a:gd name="adj" fmla="val 5455"/>
            </a:avLst>
          </a:prstGeom>
          <a:solidFill>
            <a:srgbClr val="F3F6F8"/>
          </a:solidFill>
          <a:ln w="12700">
            <a:solidFill>
              <a:srgbClr val="E2E9EF"/>
            </a:solidFill>
            <a:prstDash val="solid"/>
          </a:ln>
          <a:effectLst>
            <a:outerShdw sx="100000" sy="100000" kx="0" ky="0" algn="bl" rotWithShape="0" blurRad="152400" dist="25400" dir="5400000">
              <a:srgbClr val="0B1B2B">
                <a:alpha val="13000"/>
              </a:srgbClr>
            </a:outerShdw>
          </a:effectLst>
        </p:spPr>
      </p:sp>
      <p:sp>
        <p:nvSpPr>
          <p:cNvPr id="4" name="Shape 2"/>
          <p:cNvSpPr/>
          <p:nvPr/>
        </p:nvSpPr>
        <p:spPr>
          <a:xfrm>
            <a:off x="822960" y="1837944"/>
            <a:ext cx="475488" cy="475488"/>
          </a:xfrm>
          <a:prstGeom prst="ellipse">
            <a:avLst/>
          </a:prstGeom>
          <a:solidFill>
            <a:srgbClr val="065A82"/>
          </a:solidFill>
          <a:ln w="12700">
            <a:solidFill>
              <a:srgbClr val="065A82"/>
            </a:solidFill>
            <a:prstDash val="solid"/>
          </a:ln>
        </p:spPr>
      </p:sp>
      <p:sp>
        <p:nvSpPr>
          <p:cNvPr id="5" name="Text 3"/>
          <p:cNvSpPr/>
          <p:nvPr/>
        </p:nvSpPr>
        <p:spPr>
          <a:xfrm>
            <a:off x="822960" y="183794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a:t>
            </a:r>
            <a:endParaRPr lang="en-US" sz="1600" dirty="0"/>
          </a:p>
        </p:txBody>
      </p:sp>
      <p:sp>
        <p:nvSpPr>
          <p:cNvPr id="6" name="Text 4"/>
          <p:cNvSpPr/>
          <p:nvPr/>
        </p:nvSpPr>
        <p:spPr>
          <a:xfrm>
            <a:off x="822960" y="2441448"/>
            <a:ext cx="4745736" cy="365760"/>
          </a:xfrm>
          <a:prstGeom prst="rect">
            <a:avLst/>
          </a:prstGeom>
          <a:noFill/>
          <a:ln/>
        </p:spPr>
        <p:txBody>
          <a:bodyPr wrap="square" lIns="0" tIns="0" rIns="0" bIns="0" rtlCol="0" anchor="t"/>
          <a:lstStyle/>
          <a:p>
            <a:pPr indent="0" marL="0">
              <a:buNone/>
            </a:pPr>
            <a:r>
              <a:rPr lang="en-US" sz="1600" b="1" dirty="0">
                <a:solidFill>
                  <a:srgbClr val="21295C"/>
                </a:solidFill>
                <a:latin typeface="Calibri" pitchFamily="34" charset="0"/>
                <a:ea typeface="Calibri" pitchFamily="34" charset="-122"/>
                <a:cs typeface="Calibri" pitchFamily="34" charset="-120"/>
              </a:rPr>
              <a:t>Klarheit für sich selbst</a:t>
            </a:r>
            <a:endParaRPr lang="en-US" sz="1600" dirty="0"/>
          </a:p>
        </p:txBody>
      </p:sp>
      <p:sp>
        <p:nvSpPr>
          <p:cNvPr id="7" name="Text 5"/>
          <p:cNvSpPr/>
          <p:nvPr/>
        </p:nvSpPr>
        <p:spPr>
          <a:xfrm>
            <a:off x="822960" y="2825496"/>
            <a:ext cx="4745736" cy="676656"/>
          </a:xfrm>
          <a:prstGeom prst="rect">
            <a:avLst/>
          </a:prstGeom>
          <a:noFill/>
          <a:ln/>
        </p:spPr>
        <p:txBody>
          <a:bodyPr wrap="square" lIns="0" tIns="0" rIns="0" bIns="0" rtlCol="0" anchor="t"/>
          <a:lstStyle/>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Die meisten unterschätzen, wie viel Zeit Korrekturen und Kommunikation tatsächlich fressen. Das zu wissen hilft bei der eigenen Planung – und beim Nein-Sagen.</a:t>
            </a:r>
            <a:endParaRPr lang="en-US" sz="1300" dirty="0"/>
          </a:p>
        </p:txBody>
      </p:sp>
      <p:sp>
        <p:nvSpPr>
          <p:cNvPr id="8" name="Shape 6"/>
          <p:cNvSpPr/>
          <p:nvPr/>
        </p:nvSpPr>
        <p:spPr>
          <a:xfrm>
            <a:off x="6135624" y="1600200"/>
            <a:ext cx="5257800" cy="2011680"/>
          </a:xfrm>
          <a:prstGeom prst="roundRect">
            <a:avLst>
              <a:gd name="adj" fmla="val 5455"/>
            </a:avLst>
          </a:prstGeom>
          <a:solidFill>
            <a:srgbClr val="065A82"/>
          </a:solidFill>
          <a:ln w="12700">
            <a:solidFill>
              <a:srgbClr val="065A82"/>
            </a:solidFill>
            <a:prstDash val="solid"/>
          </a:ln>
          <a:effectLst>
            <a:outerShdw sx="100000" sy="100000" kx="0" ky="0" algn="bl" rotWithShape="0" blurRad="152400" dist="25400" dir="5400000">
              <a:srgbClr val="0B1B2B">
                <a:alpha val="13000"/>
              </a:srgbClr>
            </a:outerShdw>
          </a:effectLst>
        </p:spPr>
      </p:sp>
      <p:sp>
        <p:nvSpPr>
          <p:cNvPr id="9" name="Shape 7"/>
          <p:cNvSpPr/>
          <p:nvPr/>
        </p:nvSpPr>
        <p:spPr>
          <a:xfrm>
            <a:off x="6391656" y="1837944"/>
            <a:ext cx="475488" cy="475488"/>
          </a:xfrm>
          <a:prstGeom prst="ellipse">
            <a:avLst/>
          </a:prstGeom>
          <a:solidFill>
            <a:srgbClr val="FFFFFF"/>
          </a:solidFill>
          <a:ln w="12700">
            <a:solidFill>
              <a:srgbClr val="FFFFFF"/>
            </a:solidFill>
            <a:prstDash val="solid"/>
          </a:ln>
        </p:spPr>
      </p:sp>
      <p:sp>
        <p:nvSpPr>
          <p:cNvPr id="10" name="Text 8"/>
          <p:cNvSpPr/>
          <p:nvPr/>
        </p:nvSpPr>
        <p:spPr>
          <a:xfrm>
            <a:off x="6391656" y="1837944"/>
            <a:ext cx="475488" cy="475488"/>
          </a:xfrm>
          <a:prstGeom prst="rect">
            <a:avLst/>
          </a:prstGeom>
          <a:noFill/>
          <a:ln/>
        </p:spPr>
        <p:txBody>
          <a:bodyPr wrap="square" lIns="0" tIns="0" rIns="0" bIns="0" rtlCol="0" anchor="ctr"/>
          <a:lstStyle/>
          <a:p>
            <a:pPr algn="ctr" indent="0" marL="0">
              <a:buNone/>
            </a:pPr>
            <a:r>
              <a:rPr lang="en-US" sz="1600" b="1" dirty="0">
                <a:solidFill>
                  <a:srgbClr val="065A82"/>
                </a:solidFill>
                <a:latin typeface="Calibri" pitchFamily="34" charset="0"/>
                <a:ea typeface="Calibri" pitchFamily="34" charset="-122"/>
                <a:cs typeface="Calibri" pitchFamily="34" charset="-120"/>
              </a:rPr>
              <a:t>II</a:t>
            </a:r>
            <a:endParaRPr lang="en-US" sz="1600" dirty="0"/>
          </a:p>
        </p:txBody>
      </p:sp>
      <p:sp>
        <p:nvSpPr>
          <p:cNvPr id="11" name="Text 9"/>
          <p:cNvSpPr/>
          <p:nvPr/>
        </p:nvSpPr>
        <p:spPr>
          <a:xfrm>
            <a:off x="6391656" y="2441448"/>
            <a:ext cx="4745736"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Belege, wenn es darauf ankommt</a:t>
            </a:r>
            <a:endParaRPr lang="en-US" sz="1600" dirty="0"/>
          </a:p>
        </p:txBody>
      </p:sp>
      <p:sp>
        <p:nvSpPr>
          <p:cNvPr id="12" name="Text 10"/>
          <p:cNvSpPr/>
          <p:nvPr/>
        </p:nvSpPr>
        <p:spPr>
          <a:xfrm>
            <a:off x="6391656" y="2825496"/>
            <a:ext cx="4745736" cy="676656"/>
          </a:xfrm>
          <a:prstGeom prst="rect">
            <a:avLst/>
          </a:prstGeom>
          <a:noFill/>
          <a:ln/>
        </p:spPr>
        <p:txBody>
          <a:bodyPr wrap="square" lIns="0" tIns="0" rIns="0" bIns="0" rtlCol="0" anchor="t"/>
          <a:lstStyle/>
          <a:p>
            <a:pPr indent="0" marL="0">
              <a:lnSpc>
                <a:spcPct val="118000"/>
              </a:lnSpc>
              <a:buNone/>
            </a:pPr>
            <a:r>
              <a:rPr lang="en-US" sz="1300" dirty="0">
                <a:solidFill>
                  <a:srgbClr val="B8C4D0"/>
                </a:solidFill>
                <a:latin typeface="Calibri" pitchFamily="34" charset="0"/>
                <a:ea typeface="Calibri" pitchFamily="34" charset="-122"/>
                <a:cs typeface="Calibri" pitchFamily="34" charset="-120"/>
              </a:rPr>
              <a:t>Für das Gespräch über Anrechnungsstunden, für die Klassenzuteilung im nächsten Jahr, für eine Überlastungsanzeige. Mit Zahlen argumentiert es sich anders.</a:t>
            </a:r>
            <a:endParaRPr lang="en-US" sz="1300" dirty="0"/>
          </a:p>
        </p:txBody>
      </p:sp>
      <p:sp>
        <p:nvSpPr>
          <p:cNvPr id="13" name="Shape 11"/>
          <p:cNvSpPr/>
          <p:nvPr/>
        </p:nvSpPr>
        <p:spPr>
          <a:xfrm>
            <a:off x="566928" y="3840480"/>
            <a:ext cx="5257800" cy="2011680"/>
          </a:xfrm>
          <a:prstGeom prst="roundRect">
            <a:avLst>
              <a:gd name="adj" fmla="val 5455"/>
            </a:avLst>
          </a:prstGeom>
          <a:solidFill>
            <a:srgbClr val="F3F6F8"/>
          </a:solidFill>
          <a:ln w="12700">
            <a:solidFill>
              <a:srgbClr val="E2E9EF"/>
            </a:solidFill>
            <a:prstDash val="solid"/>
          </a:ln>
          <a:effectLst>
            <a:outerShdw sx="100000" sy="100000" kx="0" ky="0" algn="bl" rotWithShape="0" blurRad="152400" dist="25400" dir="5400000">
              <a:srgbClr val="0B1B2B">
                <a:alpha val="13000"/>
              </a:srgbClr>
            </a:outerShdw>
          </a:effectLst>
        </p:spPr>
      </p:sp>
      <p:sp>
        <p:nvSpPr>
          <p:cNvPr id="14" name="Shape 12"/>
          <p:cNvSpPr/>
          <p:nvPr/>
        </p:nvSpPr>
        <p:spPr>
          <a:xfrm>
            <a:off x="822960" y="4078224"/>
            <a:ext cx="475488" cy="475488"/>
          </a:xfrm>
          <a:prstGeom prst="ellipse">
            <a:avLst/>
          </a:prstGeom>
          <a:solidFill>
            <a:srgbClr val="065A82"/>
          </a:solidFill>
          <a:ln w="12700">
            <a:solidFill>
              <a:srgbClr val="065A82"/>
            </a:solidFill>
            <a:prstDash val="solid"/>
          </a:ln>
        </p:spPr>
      </p:sp>
      <p:sp>
        <p:nvSpPr>
          <p:cNvPr id="15" name="Text 13"/>
          <p:cNvSpPr/>
          <p:nvPr/>
        </p:nvSpPr>
        <p:spPr>
          <a:xfrm>
            <a:off x="822960" y="407822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III</a:t>
            </a:r>
            <a:endParaRPr lang="en-US" sz="1600" dirty="0"/>
          </a:p>
        </p:txBody>
      </p:sp>
      <p:sp>
        <p:nvSpPr>
          <p:cNvPr id="16" name="Text 14"/>
          <p:cNvSpPr/>
          <p:nvPr/>
        </p:nvSpPr>
        <p:spPr>
          <a:xfrm>
            <a:off x="822960" y="4681728"/>
            <a:ext cx="4745736" cy="365760"/>
          </a:xfrm>
          <a:prstGeom prst="rect">
            <a:avLst/>
          </a:prstGeom>
          <a:noFill/>
          <a:ln/>
        </p:spPr>
        <p:txBody>
          <a:bodyPr wrap="square" lIns="0" tIns="0" rIns="0" bIns="0" rtlCol="0" anchor="t"/>
          <a:lstStyle/>
          <a:p>
            <a:pPr indent="0" marL="0">
              <a:buNone/>
            </a:pPr>
            <a:r>
              <a:rPr lang="en-US" sz="1600" b="1" dirty="0">
                <a:solidFill>
                  <a:srgbClr val="21295C"/>
                </a:solidFill>
                <a:latin typeface="Calibri" pitchFamily="34" charset="0"/>
                <a:ea typeface="Calibri" pitchFamily="34" charset="-122"/>
                <a:cs typeface="Calibri" pitchFamily="34" charset="-120"/>
              </a:rPr>
              <a:t>Gewicht für das Kollegium</a:t>
            </a:r>
            <a:endParaRPr lang="en-US" sz="1600" dirty="0"/>
          </a:p>
        </p:txBody>
      </p:sp>
      <p:sp>
        <p:nvSpPr>
          <p:cNvPr id="17" name="Text 15"/>
          <p:cNvSpPr/>
          <p:nvPr/>
        </p:nvSpPr>
        <p:spPr>
          <a:xfrm>
            <a:off x="822960" y="5065776"/>
            <a:ext cx="4745736" cy="676656"/>
          </a:xfrm>
          <a:prstGeom prst="rect">
            <a:avLst/>
          </a:prstGeom>
          <a:noFill/>
          <a:ln/>
        </p:spPr>
        <p:txBody>
          <a:bodyPr wrap="square" lIns="0" tIns="0" rIns="0" bIns="0" rtlCol="0" anchor="t"/>
          <a:lstStyle/>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Wenn viele mitmachen, entsteht ein Bild der Schule statt einzelner Wortmeldungen – für Personalrat und Schulkonferenz.</a:t>
            </a:r>
            <a:endParaRPr lang="en-US" sz="1300" dirty="0"/>
          </a:p>
        </p:txBody>
      </p:sp>
      <p:sp>
        <p:nvSpPr>
          <p:cNvPr id="18" name="Shape 16"/>
          <p:cNvSpPr/>
          <p:nvPr/>
        </p:nvSpPr>
        <p:spPr>
          <a:xfrm>
            <a:off x="6135624" y="3840480"/>
            <a:ext cx="5257800" cy="2011680"/>
          </a:xfrm>
          <a:prstGeom prst="roundRect">
            <a:avLst>
              <a:gd name="adj" fmla="val 5455"/>
            </a:avLst>
          </a:prstGeom>
          <a:solidFill>
            <a:srgbClr val="F3F6F8"/>
          </a:solidFill>
          <a:ln w="12700">
            <a:solidFill>
              <a:srgbClr val="E2E9EF"/>
            </a:solidFill>
            <a:prstDash val="solid"/>
          </a:ln>
          <a:effectLst>
            <a:outerShdw sx="100000" sy="100000" kx="0" ky="0" algn="bl" rotWithShape="0" blurRad="152400" dist="25400" dir="5400000">
              <a:srgbClr val="0B1B2B">
                <a:alpha val="13000"/>
              </a:srgbClr>
            </a:outerShdw>
          </a:effectLst>
        </p:spPr>
      </p:sp>
      <p:sp>
        <p:nvSpPr>
          <p:cNvPr id="19" name="Shape 17"/>
          <p:cNvSpPr/>
          <p:nvPr/>
        </p:nvSpPr>
        <p:spPr>
          <a:xfrm>
            <a:off x="6391656" y="4078224"/>
            <a:ext cx="475488" cy="475488"/>
          </a:xfrm>
          <a:prstGeom prst="ellipse">
            <a:avLst/>
          </a:prstGeom>
          <a:solidFill>
            <a:srgbClr val="065A82"/>
          </a:solidFill>
          <a:ln w="12700">
            <a:solidFill>
              <a:srgbClr val="065A82"/>
            </a:solidFill>
            <a:prstDash val="solid"/>
          </a:ln>
        </p:spPr>
      </p:sp>
      <p:sp>
        <p:nvSpPr>
          <p:cNvPr id="20" name="Text 18"/>
          <p:cNvSpPr/>
          <p:nvPr/>
        </p:nvSpPr>
        <p:spPr>
          <a:xfrm>
            <a:off x="6391656" y="407822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IV</a:t>
            </a:r>
            <a:endParaRPr lang="en-US" sz="1600" dirty="0"/>
          </a:p>
        </p:txBody>
      </p:sp>
      <p:sp>
        <p:nvSpPr>
          <p:cNvPr id="21" name="Text 19"/>
          <p:cNvSpPr/>
          <p:nvPr/>
        </p:nvSpPr>
        <p:spPr>
          <a:xfrm>
            <a:off x="6391656" y="4681728"/>
            <a:ext cx="4745736" cy="365760"/>
          </a:xfrm>
          <a:prstGeom prst="rect">
            <a:avLst/>
          </a:prstGeom>
          <a:noFill/>
          <a:ln/>
        </p:spPr>
        <p:txBody>
          <a:bodyPr wrap="square" lIns="0" tIns="0" rIns="0" bIns="0" rtlCol="0" anchor="t"/>
          <a:lstStyle/>
          <a:p>
            <a:pPr indent="0" marL="0">
              <a:buNone/>
            </a:pPr>
            <a:r>
              <a:rPr lang="en-US" sz="1600" b="1" dirty="0">
                <a:solidFill>
                  <a:srgbClr val="21295C"/>
                </a:solidFill>
                <a:latin typeface="Calibri" pitchFamily="34" charset="0"/>
                <a:ea typeface="Calibri" pitchFamily="34" charset="-122"/>
                <a:cs typeface="Calibri" pitchFamily="34" charset="-120"/>
              </a:rPr>
              <a:t>Ein Beitrag zur Debatte</a:t>
            </a:r>
            <a:endParaRPr lang="en-US" sz="1600" dirty="0"/>
          </a:p>
        </p:txBody>
      </p:sp>
      <p:sp>
        <p:nvSpPr>
          <p:cNvPr id="22" name="Text 20"/>
          <p:cNvSpPr/>
          <p:nvPr/>
        </p:nvSpPr>
        <p:spPr>
          <a:xfrm>
            <a:off x="6391656" y="5065776"/>
            <a:ext cx="4745736" cy="676656"/>
          </a:xfrm>
          <a:prstGeom prst="rect">
            <a:avLst/>
          </a:prstGeom>
          <a:noFill/>
          <a:ln/>
        </p:spPr>
        <p:txBody>
          <a:bodyPr wrap="square" lIns="0" tIns="0" rIns="0" bIns="0" rtlCol="0" anchor="t"/>
          <a:lstStyle/>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Die Frage, wie lange Lehrkräfte arbeiten, wird seit Jahren ohne belastbare Daten diskutiert. Jede Dokumentation ist ein Datenpunkt mehr.</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11480"/>
            <a:ext cx="11055096" cy="658368"/>
          </a:xfrm>
          <a:prstGeom prst="rect">
            <a:avLst/>
          </a:prstGeom>
          <a:noFill/>
          <a:ln/>
        </p:spPr>
        <p:txBody>
          <a:bodyPr wrap="square" lIns="0" tIns="0" rIns="0" bIns="0"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So fangen wir an</a:t>
            </a:r>
            <a:endParaRPr lang="en-US" sz="3400" dirty="0"/>
          </a:p>
        </p:txBody>
      </p:sp>
      <p:sp>
        <p:nvSpPr>
          <p:cNvPr id="3" name="Text 1"/>
          <p:cNvSpPr/>
          <p:nvPr/>
        </p:nvSpPr>
        <p:spPr>
          <a:xfrm>
            <a:off x="566928" y="1078992"/>
            <a:ext cx="11055096" cy="365760"/>
          </a:xfrm>
          <a:prstGeom prst="rect">
            <a:avLst/>
          </a:prstGeom>
          <a:noFill/>
          <a:ln/>
        </p:spPr>
        <p:txBody>
          <a:bodyPr wrap="square" lIns="0" tIns="0" rIns="0" bIns="0" rtlCol="0" anchor="ctr"/>
          <a:lstStyle/>
          <a:p>
            <a:pPr indent="0" marL="0">
              <a:buNone/>
            </a:pPr>
            <a:r>
              <a:rPr lang="en-US" sz="1500" dirty="0">
                <a:solidFill>
                  <a:srgbClr val="5A6B7A"/>
                </a:solidFill>
                <a:latin typeface="Calibri" pitchFamily="34" charset="0"/>
                <a:ea typeface="Calibri" pitchFamily="34" charset="-122"/>
                <a:cs typeface="Calibri" pitchFamily="34" charset="-120"/>
              </a:rPr>
              <a:t>Vier Schritte, der erste dauert eine Viertelstunde</a:t>
            </a:r>
            <a:endParaRPr lang="en-US" sz="1500" dirty="0"/>
          </a:p>
        </p:txBody>
      </p:sp>
      <p:sp>
        <p:nvSpPr>
          <p:cNvPr id="4" name="Shape 2"/>
          <p:cNvSpPr/>
          <p:nvPr/>
        </p:nvSpPr>
        <p:spPr>
          <a:xfrm>
            <a:off x="566928" y="1828800"/>
            <a:ext cx="566928" cy="566928"/>
          </a:xfrm>
          <a:prstGeom prst="ellipse">
            <a:avLst/>
          </a:prstGeom>
          <a:solidFill>
            <a:srgbClr val="065A82"/>
          </a:solidFill>
          <a:ln w="12700">
            <a:solidFill>
              <a:srgbClr val="FFFFFF"/>
            </a:solidFill>
            <a:prstDash val="solid"/>
          </a:ln>
        </p:spPr>
      </p:sp>
      <p:sp>
        <p:nvSpPr>
          <p:cNvPr id="5" name="Text 3"/>
          <p:cNvSpPr/>
          <p:nvPr/>
        </p:nvSpPr>
        <p:spPr>
          <a:xfrm>
            <a:off x="566928" y="182880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344168" y="1737360"/>
            <a:ext cx="2651760" cy="457200"/>
          </a:xfrm>
          <a:prstGeom prst="rect">
            <a:avLst/>
          </a:prstGeom>
          <a:noFill/>
          <a:ln/>
        </p:spPr>
        <p:txBody>
          <a:bodyPr wrap="square" lIns="0" tIns="0" rIns="0" bIns="0"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Ausprobieren</a:t>
            </a:r>
            <a:endParaRPr lang="en-US" sz="1700" dirty="0"/>
          </a:p>
        </p:txBody>
      </p:sp>
      <p:sp>
        <p:nvSpPr>
          <p:cNvPr id="7" name="Text 5"/>
          <p:cNvSpPr/>
          <p:nvPr/>
        </p:nvSpPr>
        <p:spPr>
          <a:xfrm>
            <a:off x="4087368" y="1737360"/>
            <a:ext cx="7360920" cy="841248"/>
          </a:xfrm>
          <a:prstGeom prst="rect">
            <a:avLst/>
          </a:prstGeom>
          <a:noFill/>
          <a:ln/>
        </p:spPr>
        <p:txBody>
          <a:bodyPr wrap="square" lIns="0" tIns="0" rIns="0" bIns="0" rtlCol="0" anchor="ctr"/>
          <a:lstStyle/>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Link öffnen, App zum Startbildschirm hinzufügen, Einrichtung durchklicken. Etwa 15 Minuten – am besten gleich mit dem Stundenplan.</a:t>
            </a:r>
            <a:endParaRPr lang="en-US" sz="1300" dirty="0"/>
          </a:p>
        </p:txBody>
      </p:sp>
      <p:sp>
        <p:nvSpPr>
          <p:cNvPr id="8" name="Shape 6"/>
          <p:cNvSpPr/>
          <p:nvPr/>
        </p:nvSpPr>
        <p:spPr>
          <a:xfrm>
            <a:off x="566928" y="2898648"/>
            <a:ext cx="566928" cy="566928"/>
          </a:xfrm>
          <a:prstGeom prst="ellipse">
            <a:avLst/>
          </a:prstGeom>
          <a:solidFill>
            <a:srgbClr val="065A82"/>
          </a:solidFill>
          <a:ln w="12700">
            <a:solidFill>
              <a:srgbClr val="FFFFFF"/>
            </a:solidFill>
            <a:prstDash val="solid"/>
          </a:ln>
        </p:spPr>
      </p:sp>
      <p:sp>
        <p:nvSpPr>
          <p:cNvPr id="9" name="Text 7"/>
          <p:cNvSpPr/>
          <p:nvPr/>
        </p:nvSpPr>
        <p:spPr>
          <a:xfrm>
            <a:off x="566928" y="289864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p:nvPr/>
        </p:nvSpPr>
        <p:spPr>
          <a:xfrm>
            <a:off x="1344168" y="2807208"/>
            <a:ext cx="2651760" cy="457200"/>
          </a:xfrm>
          <a:prstGeom prst="rect">
            <a:avLst/>
          </a:prstGeom>
          <a:noFill/>
          <a:ln/>
        </p:spPr>
        <p:txBody>
          <a:bodyPr wrap="square" lIns="0" tIns="0" rIns="0" bIns="0"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Vier Wochen testen</a:t>
            </a:r>
            <a:endParaRPr lang="en-US" sz="1700" dirty="0"/>
          </a:p>
        </p:txBody>
      </p:sp>
      <p:sp>
        <p:nvSpPr>
          <p:cNvPr id="11" name="Text 9"/>
          <p:cNvSpPr/>
          <p:nvPr/>
        </p:nvSpPr>
        <p:spPr>
          <a:xfrm>
            <a:off x="4087368" y="2807208"/>
            <a:ext cx="7360920" cy="841248"/>
          </a:xfrm>
          <a:prstGeom prst="rect">
            <a:avLst/>
          </a:prstGeom>
          <a:noFill/>
          <a:ln/>
        </p:spPr>
        <p:txBody>
          <a:bodyPr wrap="square" lIns="0" tIns="0" rIns="0" bIns="0" rtlCol="0" anchor="ctr"/>
          <a:lstStyle/>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Wer mag, erfasst probeweise vier Wochen. Danach weiß man, ob es in den eigenen Alltag passt. Aussteigen ist jederzeit möglich.</a:t>
            </a:r>
            <a:endParaRPr lang="en-US" sz="1300" dirty="0"/>
          </a:p>
        </p:txBody>
      </p:sp>
      <p:sp>
        <p:nvSpPr>
          <p:cNvPr id="12" name="Shape 10"/>
          <p:cNvSpPr/>
          <p:nvPr/>
        </p:nvSpPr>
        <p:spPr>
          <a:xfrm>
            <a:off x="566928" y="3968496"/>
            <a:ext cx="566928" cy="566928"/>
          </a:xfrm>
          <a:prstGeom prst="ellipse">
            <a:avLst/>
          </a:prstGeom>
          <a:solidFill>
            <a:srgbClr val="065A82"/>
          </a:solidFill>
          <a:ln w="12700">
            <a:solidFill>
              <a:srgbClr val="FFFFFF"/>
            </a:solidFill>
            <a:prstDash val="solid"/>
          </a:ln>
        </p:spPr>
      </p:sp>
      <p:sp>
        <p:nvSpPr>
          <p:cNvPr id="13" name="Text 11"/>
          <p:cNvSpPr/>
          <p:nvPr/>
        </p:nvSpPr>
        <p:spPr>
          <a:xfrm>
            <a:off x="566928" y="3968496"/>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p:nvPr/>
        </p:nvSpPr>
        <p:spPr>
          <a:xfrm>
            <a:off x="1344168" y="3877056"/>
            <a:ext cx="2651760" cy="457200"/>
          </a:xfrm>
          <a:prstGeom prst="rect">
            <a:avLst/>
          </a:prstGeom>
          <a:noFill/>
          <a:ln/>
        </p:spPr>
        <p:txBody>
          <a:bodyPr wrap="square" lIns="0" tIns="0" rIns="0" bIns="0"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Rückmeldung sammeln</a:t>
            </a:r>
            <a:endParaRPr lang="en-US" sz="1700" dirty="0"/>
          </a:p>
        </p:txBody>
      </p:sp>
      <p:sp>
        <p:nvSpPr>
          <p:cNvPr id="15" name="Text 13"/>
          <p:cNvSpPr/>
          <p:nvPr/>
        </p:nvSpPr>
        <p:spPr>
          <a:xfrm>
            <a:off x="4087368" y="3877056"/>
            <a:ext cx="7360920" cy="841248"/>
          </a:xfrm>
          <a:prstGeom prst="rect">
            <a:avLst/>
          </a:prstGeom>
          <a:noFill/>
          <a:ln/>
        </p:spPr>
        <p:txBody>
          <a:bodyPr wrap="square" lIns="0" tIns="0" rIns="0" bIns="0" rtlCol="0" anchor="ctr"/>
          <a:lstStyle/>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Was fehlt, was nervt, was ist unklar? Die App lässt sich anpassen – Kategorien, Voreinstellungen, Ferientermine.</a:t>
            </a:r>
            <a:endParaRPr lang="en-US" sz="1300" dirty="0"/>
          </a:p>
        </p:txBody>
      </p:sp>
      <p:sp>
        <p:nvSpPr>
          <p:cNvPr id="16" name="Shape 14"/>
          <p:cNvSpPr/>
          <p:nvPr/>
        </p:nvSpPr>
        <p:spPr>
          <a:xfrm>
            <a:off x="566928" y="5038344"/>
            <a:ext cx="566928" cy="566928"/>
          </a:xfrm>
          <a:prstGeom prst="ellipse">
            <a:avLst/>
          </a:prstGeom>
          <a:solidFill>
            <a:srgbClr val="C05621"/>
          </a:solidFill>
          <a:ln w="12700">
            <a:solidFill>
              <a:srgbClr val="FFFFFF"/>
            </a:solidFill>
            <a:prstDash val="solid"/>
          </a:ln>
        </p:spPr>
      </p:sp>
      <p:sp>
        <p:nvSpPr>
          <p:cNvPr id="17" name="Text 15"/>
          <p:cNvSpPr/>
          <p:nvPr/>
        </p:nvSpPr>
        <p:spPr>
          <a:xfrm>
            <a:off x="566928" y="5038344"/>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8" name="Text 16"/>
          <p:cNvSpPr/>
          <p:nvPr/>
        </p:nvSpPr>
        <p:spPr>
          <a:xfrm>
            <a:off x="1344168" y="4946904"/>
            <a:ext cx="2651760" cy="457200"/>
          </a:xfrm>
          <a:prstGeom prst="rect">
            <a:avLst/>
          </a:prstGeom>
          <a:noFill/>
          <a:ln/>
        </p:spPr>
        <p:txBody>
          <a:bodyPr wrap="square" lIns="0" tIns="0" rIns="0" bIns="0"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Gemeinsam auswerten</a:t>
            </a:r>
            <a:endParaRPr lang="en-US" sz="1700" dirty="0"/>
          </a:p>
        </p:txBody>
      </p:sp>
      <p:sp>
        <p:nvSpPr>
          <p:cNvPr id="19" name="Text 17"/>
          <p:cNvSpPr/>
          <p:nvPr/>
        </p:nvSpPr>
        <p:spPr>
          <a:xfrm>
            <a:off x="4087368" y="4946904"/>
            <a:ext cx="7360920" cy="841248"/>
          </a:xfrm>
          <a:prstGeom prst="rect">
            <a:avLst/>
          </a:prstGeom>
          <a:noFill/>
          <a:ln/>
        </p:spPr>
        <p:txBody>
          <a:bodyPr wrap="square" lIns="0" tIns="0" rIns="0" bIns="0" rtlCol="0" anchor="ctr"/>
          <a:lstStyle/>
          <a:p>
            <a:pPr indent="0" marL="0">
              <a:lnSpc>
                <a:spcPct val="118000"/>
              </a:lnSpc>
              <a:buNone/>
            </a:pPr>
            <a:r>
              <a:rPr lang="en-US" sz="1300" dirty="0">
                <a:solidFill>
                  <a:srgbClr val="5A6B7A"/>
                </a:solidFill>
                <a:latin typeface="Calibri" pitchFamily="34" charset="0"/>
                <a:ea typeface="Calibri" pitchFamily="34" charset="-122"/>
                <a:cs typeface="Calibri" pitchFamily="34" charset="-120"/>
              </a:rPr>
              <a:t>Wenn genug mitmachen und der Personalrat einverstanden ist: anonyme Dateien zusammenführen und das Ergebnis in der Schulkonferenz vorstellen.</a:t>
            </a:r>
            <a:endParaRPr lang="en-US" sz="1300" dirty="0"/>
          </a:p>
        </p:txBody>
      </p:sp>
      <p:sp>
        <p:nvSpPr>
          <p:cNvPr id="20" name="Text 18"/>
          <p:cNvSpPr/>
          <p:nvPr/>
        </p:nvSpPr>
        <p:spPr>
          <a:xfrm>
            <a:off x="566928" y="5943600"/>
            <a:ext cx="10607040" cy="411480"/>
          </a:xfrm>
          <a:prstGeom prst="rect">
            <a:avLst/>
          </a:prstGeom>
          <a:noFill/>
          <a:ln/>
        </p:spPr>
        <p:txBody>
          <a:bodyPr wrap="square" lIns="0" tIns="0" rIns="0" bIns="0" rtlCol="0" anchor="ctr"/>
          <a:lstStyle/>
          <a:p>
            <a:pPr indent="0" marL="0">
              <a:buNone/>
            </a:pPr>
            <a:r>
              <a:rPr lang="en-US" sz="1350" i="1" dirty="0">
                <a:solidFill>
                  <a:srgbClr val="065A82"/>
                </a:solidFill>
                <a:latin typeface="Calibri" pitchFamily="34" charset="0"/>
                <a:ea typeface="Calibri" pitchFamily="34" charset="-122"/>
                <a:cs typeface="Calibri" pitchFamily="34" charset="-120"/>
              </a:rPr>
              <a:t>Der Leitfaden in der App beantwortet die meisten Fragen – und lässt sich ausdrucken.</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280160" y="4206240"/>
            <a:ext cx="4206240" cy="4206240"/>
          </a:xfrm>
          <a:prstGeom prst="ellipse">
            <a:avLst/>
          </a:prstGeom>
          <a:solidFill>
            <a:srgbClr val="065A82">
              <a:alpha val="40000"/>
            </a:srgbClr>
          </a:solidFill>
          <a:ln w="12700">
            <a:solidFill>
              <a:srgbClr val="065A82">
                <a:alpha val="0"/>
              </a:srgbClr>
            </a:solidFill>
            <a:prstDash val="solid"/>
          </a:ln>
        </p:spPr>
      </p:sp>
      <p:sp>
        <p:nvSpPr>
          <p:cNvPr id="3" name="Text 1"/>
          <p:cNvSpPr/>
          <p:nvPr/>
        </p:nvSpPr>
        <p:spPr>
          <a:xfrm>
            <a:off x="566928" y="640080"/>
            <a:ext cx="1060704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Was wir offen sagen sollten</a:t>
            </a:r>
            <a:endParaRPr lang="en-US" sz="3400" dirty="0"/>
          </a:p>
        </p:txBody>
      </p:sp>
      <p:sp>
        <p:nvSpPr>
          <p:cNvPr id="4" name="Text 2"/>
          <p:cNvSpPr/>
          <p:nvPr/>
        </p:nvSpPr>
        <p:spPr>
          <a:xfrm>
            <a:off x="566928" y="1600200"/>
            <a:ext cx="10607040" cy="38404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Es sind Selbstaufschreibungen.</a:t>
            </a:r>
            <a:endParaRPr lang="en-US" sz="1700" dirty="0"/>
          </a:p>
        </p:txBody>
      </p:sp>
      <p:sp>
        <p:nvSpPr>
          <p:cNvPr id="5" name="Text 3"/>
          <p:cNvSpPr/>
          <p:nvPr/>
        </p:nvSpPr>
        <p:spPr>
          <a:xfrm>
            <a:off x="566928" y="2002536"/>
            <a:ext cx="10058400" cy="676656"/>
          </a:xfrm>
          <a:prstGeom prst="rect">
            <a:avLst/>
          </a:prstGeom>
          <a:noFill/>
          <a:ln/>
        </p:spPr>
        <p:txBody>
          <a:bodyPr wrap="square" lIns="0" tIns="0" rIns="0" bIns="0" rtlCol="0" anchor="t"/>
          <a:lstStyle/>
          <a:p>
            <a:pPr indent="0" marL="0">
              <a:lnSpc>
                <a:spcPct val="120000"/>
              </a:lnSpc>
              <a:buNone/>
            </a:pPr>
            <a:r>
              <a:rPr lang="en-US" sz="1350" dirty="0">
                <a:solidFill>
                  <a:srgbClr val="B8C4D0"/>
                </a:solidFill>
                <a:latin typeface="Calibri" pitchFamily="34" charset="0"/>
                <a:ea typeface="Calibri" pitchFamily="34" charset="-122"/>
                <a:cs typeface="Calibri" pitchFamily="34" charset="-120"/>
              </a:rPr>
              <a:t>Sie sind so belastbar, wie sorgfältig erfasst wird. Lücken machen den Saldo eher zu klein als zu groß – die App weist ausdrücklich darauf hin.</a:t>
            </a:r>
            <a:endParaRPr lang="en-US" sz="1350" dirty="0"/>
          </a:p>
        </p:txBody>
      </p:sp>
      <p:sp>
        <p:nvSpPr>
          <p:cNvPr id="6" name="Text 4"/>
          <p:cNvSpPr/>
          <p:nvPr/>
        </p:nvSpPr>
        <p:spPr>
          <a:xfrm>
            <a:off x="566928" y="2834640"/>
            <a:ext cx="10607040" cy="38404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Einige Werte müssen geprüft werden.</a:t>
            </a:r>
            <a:endParaRPr lang="en-US" sz="1700" dirty="0"/>
          </a:p>
        </p:txBody>
      </p:sp>
      <p:sp>
        <p:nvSpPr>
          <p:cNvPr id="7" name="Text 5"/>
          <p:cNvSpPr/>
          <p:nvPr/>
        </p:nvSpPr>
        <p:spPr>
          <a:xfrm>
            <a:off x="566928" y="3236976"/>
            <a:ext cx="10058400" cy="676656"/>
          </a:xfrm>
          <a:prstGeom prst="rect">
            <a:avLst/>
          </a:prstGeom>
          <a:noFill/>
          <a:ln/>
        </p:spPr>
        <p:txBody>
          <a:bodyPr wrap="square" lIns="0" tIns="0" rIns="0" bIns="0" rtlCol="0" anchor="t"/>
          <a:lstStyle/>
          <a:p>
            <a:pPr indent="0" marL="0">
              <a:lnSpc>
                <a:spcPct val="120000"/>
              </a:lnSpc>
              <a:buNone/>
            </a:pPr>
            <a:r>
              <a:rPr lang="en-US" sz="1350" dirty="0">
                <a:solidFill>
                  <a:srgbClr val="B8C4D0"/>
                </a:solidFill>
                <a:latin typeface="Calibri" pitchFamily="34" charset="0"/>
                <a:ea typeface="Calibri" pitchFamily="34" charset="-122"/>
                <a:cs typeface="Calibri" pitchFamily="34" charset="-120"/>
              </a:rPr>
              <a:t>Pflichtstundenzahl, Ferientermine und die Stunden je Funktionsaufgabe sind Startwerte. Alles ist in der App änderbar, ohne Programmierkenntnisse.</a:t>
            </a:r>
            <a:endParaRPr lang="en-US" sz="1350" dirty="0"/>
          </a:p>
        </p:txBody>
      </p:sp>
      <p:sp>
        <p:nvSpPr>
          <p:cNvPr id="8" name="Text 6"/>
          <p:cNvSpPr/>
          <p:nvPr/>
        </p:nvSpPr>
        <p:spPr>
          <a:xfrm>
            <a:off x="566928" y="4069080"/>
            <a:ext cx="10607040" cy="38404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Das ist keine Rechtsberatung.</a:t>
            </a:r>
            <a:endParaRPr lang="en-US" sz="1700" dirty="0"/>
          </a:p>
        </p:txBody>
      </p:sp>
      <p:sp>
        <p:nvSpPr>
          <p:cNvPr id="9" name="Text 7"/>
          <p:cNvSpPr/>
          <p:nvPr/>
        </p:nvSpPr>
        <p:spPr>
          <a:xfrm>
            <a:off x="566928" y="4471416"/>
            <a:ext cx="10058400" cy="676656"/>
          </a:xfrm>
          <a:prstGeom prst="rect">
            <a:avLst/>
          </a:prstGeom>
          <a:noFill/>
          <a:ln/>
        </p:spPr>
        <p:txBody>
          <a:bodyPr wrap="square" lIns="0" tIns="0" rIns="0" bIns="0" rtlCol="0" anchor="t"/>
          <a:lstStyle/>
          <a:p>
            <a:pPr indent="0" marL="0">
              <a:lnSpc>
                <a:spcPct val="120000"/>
              </a:lnSpc>
              <a:buNone/>
            </a:pPr>
            <a:r>
              <a:rPr lang="en-US" sz="1350" dirty="0">
                <a:solidFill>
                  <a:srgbClr val="B8C4D0"/>
                </a:solidFill>
                <a:latin typeface="Calibri" pitchFamily="34" charset="0"/>
                <a:ea typeface="Calibri" pitchFamily="34" charset="-122"/>
                <a:cs typeface="Calibri" pitchFamily="34" charset="-120"/>
              </a:rPr>
              <a:t>Ob und wie sich aus dokumentierter Mehrarbeit Ansprüche ableiten lassen, beantworten Personalrat, Gewerkschaft oder Rechtsberatung – nicht diese App.</a:t>
            </a:r>
            <a:endParaRPr lang="en-US" sz="1350" dirty="0"/>
          </a:p>
        </p:txBody>
      </p:sp>
      <p:sp>
        <p:nvSpPr>
          <p:cNvPr id="10" name="Text 8"/>
          <p:cNvSpPr/>
          <p:nvPr/>
        </p:nvSpPr>
        <p:spPr>
          <a:xfrm>
            <a:off x="566928" y="5349240"/>
            <a:ext cx="45720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Fragen?</a:t>
            </a:r>
            <a:endParaRPr lang="en-US" sz="3400" dirty="0"/>
          </a:p>
        </p:txBody>
      </p:sp>
      <p:sp>
        <p:nvSpPr>
          <p:cNvPr id="11" name="Text 9"/>
          <p:cNvSpPr/>
          <p:nvPr/>
        </p:nvSpPr>
        <p:spPr>
          <a:xfrm>
            <a:off x="566928" y="5989320"/>
            <a:ext cx="7315200" cy="365760"/>
          </a:xfrm>
          <a:prstGeom prst="rect">
            <a:avLst/>
          </a:prstGeom>
          <a:noFill/>
          <a:ln/>
        </p:spPr>
        <p:txBody>
          <a:bodyPr wrap="square" lIns="0" tIns="0" rIns="0" bIns="0" rtlCol="0" anchor="ctr"/>
          <a:lstStyle/>
          <a:p>
            <a:pPr indent="0" marL="0">
              <a:buNone/>
            </a:pPr>
            <a:r>
              <a:rPr lang="en-US" sz="1300" dirty="0">
                <a:solidFill>
                  <a:srgbClr val="B8C4D0"/>
                </a:solidFill>
                <a:latin typeface="Calibri" pitchFamily="34" charset="0"/>
                <a:ea typeface="Calibri" pitchFamily="34" charset="-122"/>
                <a:cs typeface="Calibri" pitchFamily="34" charset="-120"/>
              </a:rPr>
              <a:t>Leitfaden und App: in der Einladung verlinkt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Lehrerzeit – Arbeitszeit dokumentieren</dc:title>
  <dc:subject>PptxGenJS Presentation</dc:subject>
  <dc:creator>Lehrerzeit</dc:creator>
  <cp:lastModifiedBy>Lehrerzeit</cp:lastModifiedBy>
  <cp:revision>1</cp:revision>
  <dcterms:created xsi:type="dcterms:W3CDTF">2026-08-08T09:50:35Z</dcterms:created>
  <dcterms:modified xsi:type="dcterms:W3CDTF">2026-08-08T09:50:35Z</dcterms:modified>
</cp:coreProperties>
</file>